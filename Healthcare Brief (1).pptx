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Montserrat"/>
      <p:regular r:id="rId15"/>
      <p:bold r:id="rId16"/>
      <p:italic r:id="rId17"/>
      <p:boldItalic r:id="rId18"/>
    </p:embeddedFont>
    <p:embeddedFont>
      <p:font typeface="Alata"/>
      <p:regular r:id="rId19"/>
    </p:embeddedFont>
    <p:embeddedFont>
      <p:font typeface="Noto Sans Symbols"/>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hf9rJU3CF3UlU/lForVfRHqyuJ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toSansSymbols-regular.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NotoSansSymbols-bold.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regular.fntdata"/><Relationship Id="rId14" Type="http://schemas.openxmlformats.org/officeDocument/2006/relationships/slide" Target="slides/slide10.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slide" Target="slides/slide1.xml"/><Relationship Id="rId19" Type="http://schemas.openxmlformats.org/officeDocument/2006/relationships/font" Target="fonts/Alata-regular.fntdata"/><Relationship Id="rId6" Type="http://schemas.openxmlformats.org/officeDocument/2006/relationships/slide" Target="slides/slide2.xml"/><Relationship Id="rId18" Type="http://schemas.openxmlformats.org/officeDocument/2006/relationships/font" Target="fonts/Montserrat-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Hi everyone, we are team Fourcast, and today we will dive into one of the most critical challenge of diabetes - consistent management. So, what drives delayed diabetes follow-up?</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6fb8d29fa_3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6fb8d29fa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600"/>
              </a:spcAft>
              <a:buNone/>
            </a:pPr>
            <a:r>
              <a:rPr lang="en-US"/>
              <a:t>First of all, let’s look at our character Sara. Sara is a resident of a rural community in Kansas. One day, Sara felt unwell and went to the doctor. The doctor told her that she has Type 2 diabetes and needs to do some testing and come back for follow-up. However, Sara never came back.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b8d29fa_3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6fb8d29fa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600"/>
              </a:spcAft>
              <a:buNone/>
            </a:pPr>
            <a:r>
              <a:rPr lang="en-US"/>
              <a:t>Actually, there are many people like Sara in Kansas. Type 2 diabetes is one of the top, fastest-growing, and most costly chronic conditions. Diabetes requires ongoing, lifetime management, and patients </a:t>
            </a:r>
            <a:r>
              <a:rPr lang="en-US">
                <a:solidFill>
                  <a:schemeClr val="dk1"/>
                </a:solidFill>
              </a:rPr>
              <a:t>who miss appointments had 60% greater odds of rehospitalization compared to those follow the schedule. While the</a:t>
            </a:r>
            <a:r>
              <a:rPr lang="en-US"/>
              <a:t> ideal follow-up date for a doctor’s visit is typically every 3 to 6 months, the SVH’s data shows that a typical diabetes patient has a follow-up day of 258 days. This led to our question - what caused this significant delay?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To turn this into something insight, we built a random forest model. The goal was to predict which Type 2 diabetes patients are more likely to go over 180 days without another diabetes related encounter. We only included patients with at least 365 days of observation time and removed first encounter year because that mostly reflected the data window rather than real patient risk. The model then placed patients into low, medium, and high risk tiers. After building the risk tiers, the next question was: what information helped the model separate low risk from high risk patients?</a:t>
            </a:r>
            <a:endParaRPr/>
          </a:p>
        </p:txBody>
      </p:sp>
      <p:sp>
        <p:nvSpPr>
          <p:cNvPr id="181" name="Google Shape;18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From our model, we found the following predictors had the most importance in determining which risk group someone should be placed into. For example, the predictor with the most importance was First Department Specialty, which tells us what department the institution the patient first visited on their journey specialized in. However, this isn’t something that SVH could change, so we did not include these types of predictors in our final analysis. Instead, we chose to look at some variables that could be changed and that do have a meaningful impact based on our model, with those predictors being First Encounter Type, MyChart Status, and Any Social Risk.</a:t>
            </a:r>
            <a:endParaRPr/>
          </a:p>
        </p:txBody>
      </p:sp>
      <p:sp>
        <p:nvSpPr>
          <p:cNvPr id="188" name="Google Shape;18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6fb8d29fa_2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e6fb8d29fa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This graph shows the types of encounters patients first have when starting their journeys, and it lists them based on how likely they are to have a gap of over 180 days between this encounter and their next one. So, for example, any patient whose first encounter on their journey with type 2 diabetes is a lab visit will have an 80.9% chance of having a gap of over 180 days from their lab visit to their next encounter. From this graph, we can see that lab and office visits lead to the highest chance of having a long gap and thus are the most important aspects to address.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6fb8d29f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e6fb8d29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Here we can see the impact of MyChart usage on follow-up gaps between patient visits. MyChart is an online patient portal that allows patients to access their medical records, communicate with healthcare providers, request prescription refills, and review lab results.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a:t>
            </a:r>
            <a:r>
              <a:rPr lang="en-US"/>
              <a:t>internal data suggests that use of MyChart is associated with a 7.2% improvement in maintaining timely follow-up schedules, reflecting better coordination between Type 2 diabetes patients and healthcare workers, and fewer missed or delayed appointments. Overall, MyChart is an effective digital health tool that improves patient engagement and supports more consistent care delivery.</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6fb8d29f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e6fb8d29f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 also looked at how social risks impacted the likelihood of a patient having a follow-gap of over 180 days. The factors that determine whether a patient has social risk are difficulty in accessing transportation, food/housing insecurity, financial strain, stress, depression, and social isolation. If a patient responded as having any of the social risk factors, then they were considered to be part of the “Any social risk” group. Based on the data, we see that having a social risk means having a 6.1% higher chance of having a long follow-up gap.</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6fb8d29fa_2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e6fb8d29fa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After analyzing all of our data, we arrived at some conclusions that we believe Stormont Vail Health could implement that wouild help patients with type 2 diabetes get the care they require. Firstly, we believe that getting volunteer/medical students to help in the labs and offices would help reduce the follow-up time for patients by processing results faster and to aid with scheduling. Furthermore, scheduling could be standardized across departments to make a potentially complex system more </a:t>
            </a:r>
            <a:r>
              <a:rPr lang="en-US"/>
              <a:t>manageable</a:t>
            </a:r>
            <a:r>
              <a:rPr lang="en-US"/>
              <a:t> and easier to use. Secondly, we found that patients with MyChart were more likely to have appropriate follow-up times than those who opted out, so we think they could push for more patients to get the app. Thirdly, we saw that those with any social risk had a higher likelihood to have a long follow-up gap, so we suggest that they should be followed-up with. Expanding on that, we would advise that anyone that the model predicts to be part of the high risk group should have their follow-up appointments be booked before they finish their encounter. We’d argue only those in the high risk group have their follow-ups booked like this as otherwise it would overload the system.</a:t>
            </a:r>
            <a:br>
              <a:rPr lang="en-US"/>
            </a:br>
            <a:br>
              <a:rPr lang="en-US"/>
            </a:br>
            <a:r>
              <a:rPr lang="en-US"/>
              <a:t>Delayed follow-up isn’t primarily about who the patient is, it’s about how the healthcare system engages them at the start and supports them over time. By improving the system and paying more attention to high-risk individuals, people like Sara will have more consistent management of their illness and enjoy a better life.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6fe210b3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6fe210b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 used these sources for general information on the topic, as well as for specific statistics like the 60% greater chance of rehospitalization for patients with a follow-up gap of over 6 months that came from the fourth source.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sp>
        <p:nvSpPr>
          <p:cNvPr id="7" name="Google Shape;7;p14"/>
          <p:cNvSpPr txBox="1"/>
          <p:nvPr>
            <p:ph type="title"/>
          </p:nvPr>
        </p:nvSpPr>
        <p:spPr>
          <a:xfrm>
            <a:off x="714240" y="451440"/>
            <a:ext cx="4328280" cy="289728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_1" type="blank">
  <p:cSld name="BLANK">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0"/>
            <a:ext cx="9143640" cy="342720"/>
            <a:chOff x="0" y="0"/>
            <a:chExt cx="9143640" cy="342720"/>
          </a:xfrm>
        </p:grpSpPr>
        <p:sp>
          <p:nvSpPr>
            <p:cNvPr id="11" name="Google Shape;11;p15"/>
            <p:cNvSpPr/>
            <p:nvPr/>
          </p:nvSpPr>
          <p:spPr>
            <a:xfrm>
              <a:off x="0" y="0"/>
              <a:ext cx="9143640" cy="342720"/>
            </a:xfrm>
            <a:custGeom>
              <a:rect b="b" l="l" r="r" t="t"/>
              <a:pathLst>
                <a:path extrusionOk="0" h="1407" w="43778">
                  <a:moveTo>
                    <a:pt x="0" y="0"/>
                  </a:moveTo>
                  <a:lnTo>
                    <a:pt x="0" y="1406"/>
                  </a:lnTo>
                  <a:lnTo>
                    <a:pt x="43777" y="1406"/>
                  </a:lnTo>
                  <a:lnTo>
                    <a:pt x="4377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12" name="Google Shape;12;p15"/>
            <p:cNvGrpSpPr/>
            <p:nvPr/>
          </p:nvGrpSpPr>
          <p:grpSpPr>
            <a:xfrm>
              <a:off x="216000" y="111240"/>
              <a:ext cx="642600" cy="120240"/>
              <a:chOff x="216000" y="111240"/>
              <a:chExt cx="642600" cy="120240"/>
            </a:xfrm>
          </p:grpSpPr>
          <p:sp>
            <p:nvSpPr>
              <p:cNvPr id="13" name="Google Shape;13;p15"/>
              <p:cNvSpPr/>
              <p:nvPr/>
            </p:nvSpPr>
            <p:spPr>
              <a:xfrm>
                <a:off x="216000" y="111240"/>
                <a:ext cx="120240" cy="120240"/>
              </a:xfrm>
              <a:prstGeom prst="ellipse">
                <a:avLst/>
              </a:prstGeom>
              <a:solidFill>
                <a:schemeClr val="accent6"/>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 name="Google Shape;14;p15"/>
              <p:cNvSpPr/>
              <p:nvPr/>
            </p:nvSpPr>
            <p:spPr>
              <a:xfrm>
                <a:off x="477000" y="111240"/>
                <a:ext cx="120240" cy="120240"/>
              </a:xfrm>
              <a:prstGeom prst="ellipse">
                <a:avLst/>
              </a:prstGeom>
              <a:solidFill>
                <a:schemeClr val="accent5"/>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 name="Google Shape;15;p15"/>
              <p:cNvSpPr/>
              <p:nvPr/>
            </p:nvSpPr>
            <p:spPr>
              <a:xfrm>
                <a:off x="738360" y="111240"/>
                <a:ext cx="120240" cy="120240"/>
              </a:xfrm>
              <a:prstGeom prst="ellipse">
                <a:avLst/>
              </a:prstGeom>
              <a:solidFill>
                <a:schemeClr val="accent3"/>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
        <p:nvSpPr>
          <p:cNvPr id="16" name="Google Shape;16;p15"/>
          <p:cNvSpPr txBox="1"/>
          <p:nvPr>
            <p:ph type="title"/>
          </p:nvPr>
        </p:nvSpPr>
        <p:spPr>
          <a:xfrm>
            <a:off x="714240" y="685800"/>
            <a:ext cx="3422160" cy="108324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 name="Google Shape;17;p15"/>
          <p:cNvSpPr txBox="1"/>
          <p:nvPr>
            <p:ph idx="1" type="body"/>
          </p:nvPr>
        </p:nvSpPr>
        <p:spPr>
          <a:xfrm>
            <a:off x="4664160" y="1227600"/>
            <a:ext cx="3145320" cy="28620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18" name="Shape 18"/>
        <p:cNvGrpSpPr/>
        <p:nvPr/>
      </p:nvGrpSpPr>
      <p:grpSpPr>
        <a:xfrm>
          <a:off x="0" y="0"/>
          <a:ext cx="0" cy="0"/>
          <a:chOff x="0" y="0"/>
          <a:chExt cx="0" cy="0"/>
        </a:xfrm>
      </p:grpSpPr>
      <p:grpSp>
        <p:nvGrpSpPr>
          <p:cNvPr id="19" name="Google Shape;19;p16"/>
          <p:cNvGrpSpPr/>
          <p:nvPr/>
        </p:nvGrpSpPr>
        <p:grpSpPr>
          <a:xfrm>
            <a:off x="0" y="0"/>
            <a:ext cx="9143640" cy="342720"/>
            <a:chOff x="0" y="0"/>
            <a:chExt cx="9143640" cy="342720"/>
          </a:xfrm>
        </p:grpSpPr>
        <p:sp>
          <p:nvSpPr>
            <p:cNvPr id="20" name="Google Shape;20;p16"/>
            <p:cNvSpPr/>
            <p:nvPr/>
          </p:nvSpPr>
          <p:spPr>
            <a:xfrm>
              <a:off x="0" y="0"/>
              <a:ext cx="9143640" cy="342720"/>
            </a:xfrm>
            <a:custGeom>
              <a:rect b="b" l="l" r="r" t="t"/>
              <a:pathLst>
                <a:path extrusionOk="0" h="1407" w="43778">
                  <a:moveTo>
                    <a:pt x="0" y="0"/>
                  </a:moveTo>
                  <a:lnTo>
                    <a:pt x="0" y="1406"/>
                  </a:lnTo>
                  <a:lnTo>
                    <a:pt x="43777" y="1406"/>
                  </a:lnTo>
                  <a:lnTo>
                    <a:pt x="43777"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1" name="Google Shape;21;p16"/>
            <p:cNvGrpSpPr/>
            <p:nvPr/>
          </p:nvGrpSpPr>
          <p:grpSpPr>
            <a:xfrm>
              <a:off x="216000" y="111240"/>
              <a:ext cx="642600" cy="120240"/>
              <a:chOff x="216000" y="111240"/>
              <a:chExt cx="642600" cy="120240"/>
            </a:xfrm>
          </p:grpSpPr>
          <p:sp>
            <p:nvSpPr>
              <p:cNvPr id="22" name="Google Shape;22;p16"/>
              <p:cNvSpPr/>
              <p:nvPr/>
            </p:nvSpPr>
            <p:spPr>
              <a:xfrm>
                <a:off x="216000" y="111240"/>
                <a:ext cx="120240" cy="120240"/>
              </a:xfrm>
              <a:prstGeom prst="ellipse">
                <a:avLst/>
              </a:prstGeom>
              <a:solidFill>
                <a:schemeClr val="lt1"/>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 name="Google Shape;23;p16"/>
              <p:cNvSpPr/>
              <p:nvPr/>
            </p:nvSpPr>
            <p:spPr>
              <a:xfrm>
                <a:off x="477000" y="111240"/>
                <a:ext cx="120240" cy="120240"/>
              </a:xfrm>
              <a:prstGeom prst="ellipse">
                <a:avLst/>
              </a:prstGeom>
              <a:solidFill>
                <a:schemeClr val="lt1"/>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 name="Google Shape;24;p16"/>
              <p:cNvSpPr/>
              <p:nvPr/>
            </p:nvSpPr>
            <p:spPr>
              <a:xfrm>
                <a:off x="738360" y="111240"/>
                <a:ext cx="120240" cy="120240"/>
              </a:xfrm>
              <a:prstGeom prst="ellipse">
                <a:avLst/>
              </a:prstGeom>
              <a:solidFill>
                <a:schemeClr val="lt1"/>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
        <p:nvSpPr>
          <p:cNvPr id="25" name="Google Shape;25;p16"/>
          <p:cNvSpPr txBox="1"/>
          <p:nvPr>
            <p:ph type="title"/>
          </p:nvPr>
        </p:nvSpPr>
        <p:spPr>
          <a:xfrm>
            <a:off x="714240" y="540720"/>
            <a:ext cx="7715160" cy="4676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26" name="Google Shape;26;p16"/>
          <p:cNvGrpSpPr/>
          <p:nvPr/>
        </p:nvGrpSpPr>
        <p:grpSpPr>
          <a:xfrm>
            <a:off x="66600" y="204480"/>
            <a:ext cx="9077040" cy="4939200"/>
            <a:chOff x="66600" y="204480"/>
            <a:chExt cx="9077040" cy="4939200"/>
          </a:xfrm>
        </p:grpSpPr>
        <p:grpSp>
          <p:nvGrpSpPr>
            <p:cNvPr id="27" name="Google Shape;27;p16"/>
            <p:cNvGrpSpPr/>
            <p:nvPr/>
          </p:nvGrpSpPr>
          <p:grpSpPr>
            <a:xfrm>
              <a:off x="66600" y="206640"/>
              <a:ext cx="9077040" cy="342720"/>
              <a:chOff x="66600" y="206640"/>
              <a:chExt cx="9077040" cy="342720"/>
            </a:xfrm>
          </p:grpSpPr>
          <p:sp>
            <p:nvSpPr>
              <p:cNvPr id="28" name="Google Shape;28;p16"/>
              <p:cNvSpPr/>
              <p:nvPr/>
            </p:nvSpPr>
            <p:spPr>
              <a:xfrm>
                <a:off x="66600" y="206640"/>
                <a:ext cx="9077040" cy="342720"/>
              </a:xfrm>
              <a:custGeom>
                <a:rect b="b" l="l" r="r" t="t"/>
                <a:pathLst>
                  <a:path extrusionOk="0" h="1407" w="43778">
                    <a:moveTo>
                      <a:pt x="0" y="0"/>
                    </a:moveTo>
                    <a:lnTo>
                      <a:pt x="0" y="1406"/>
                    </a:lnTo>
                    <a:lnTo>
                      <a:pt x="43777" y="1406"/>
                    </a:lnTo>
                    <a:lnTo>
                      <a:pt x="4377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29" name="Google Shape;29;p16"/>
              <p:cNvGrpSpPr/>
              <p:nvPr/>
            </p:nvGrpSpPr>
            <p:grpSpPr>
              <a:xfrm>
                <a:off x="280080" y="317880"/>
                <a:ext cx="635400" cy="120240"/>
                <a:chOff x="280080" y="317880"/>
                <a:chExt cx="635400" cy="120240"/>
              </a:xfrm>
            </p:grpSpPr>
            <p:sp>
              <p:nvSpPr>
                <p:cNvPr id="30" name="Google Shape;30;p16"/>
                <p:cNvSpPr/>
                <p:nvPr/>
              </p:nvSpPr>
              <p:spPr>
                <a:xfrm>
                  <a:off x="280080" y="317880"/>
                  <a:ext cx="118800" cy="120240"/>
                </a:xfrm>
                <a:prstGeom prst="ellipse">
                  <a:avLst/>
                </a:prstGeom>
                <a:solidFill>
                  <a:schemeClr val="accent6"/>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 name="Google Shape;31;p16"/>
                <p:cNvSpPr/>
                <p:nvPr/>
              </p:nvSpPr>
              <p:spPr>
                <a:xfrm>
                  <a:off x="538200" y="317880"/>
                  <a:ext cx="118800" cy="120240"/>
                </a:xfrm>
                <a:prstGeom prst="ellipse">
                  <a:avLst/>
                </a:prstGeom>
                <a:solidFill>
                  <a:schemeClr val="accent5"/>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 name="Google Shape;32;p16"/>
                <p:cNvSpPr/>
                <p:nvPr/>
              </p:nvSpPr>
              <p:spPr>
                <a:xfrm>
                  <a:off x="796680" y="317880"/>
                  <a:ext cx="118800" cy="120240"/>
                </a:xfrm>
                <a:prstGeom prst="ellipse">
                  <a:avLst/>
                </a:prstGeom>
                <a:solidFill>
                  <a:schemeClr val="accent3"/>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cxnSp>
          <p:nvCxnSpPr>
            <p:cNvPr id="33" name="Google Shape;33;p16"/>
            <p:cNvCxnSpPr/>
            <p:nvPr/>
          </p:nvCxnSpPr>
          <p:spPr>
            <a:xfrm>
              <a:off x="66600" y="204480"/>
              <a:ext cx="360" cy="4939200"/>
            </a:xfrm>
            <a:prstGeom prst="straightConnector1">
              <a:avLst/>
            </a:prstGeom>
            <a:noFill/>
            <a:ln cap="flat" cmpd="sng" w="9525">
              <a:solidFill>
                <a:srgbClr val="2F4A8A"/>
              </a:solidFill>
              <a:prstDash val="solid"/>
              <a:round/>
              <a:headEnd len="sm" w="sm" type="none"/>
              <a:tailEnd len="sm" w="sm" type="none"/>
            </a:ln>
          </p:spPr>
        </p:cxnSp>
      </p:grpSp>
      <p:sp>
        <p:nvSpPr>
          <p:cNvPr id="34" name="Google Shape;34;p1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35" name="Shape 35"/>
        <p:cNvGrpSpPr/>
        <p:nvPr/>
      </p:nvGrpSpPr>
      <p:grpSpPr>
        <a:xfrm>
          <a:off x="0" y="0"/>
          <a:ext cx="0" cy="0"/>
          <a:chOff x="0" y="0"/>
          <a:chExt cx="0" cy="0"/>
        </a:xfrm>
      </p:grpSpPr>
      <p:grpSp>
        <p:nvGrpSpPr>
          <p:cNvPr id="36" name="Google Shape;36;p17"/>
          <p:cNvGrpSpPr/>
          <p:nvPr/>
        </p:nvGrpSpPr>
        <p:grpSpPr>
          <a:xfrm>
            <a:off x="0" y="0"/>
            <a:ext cx="9143640" cy="342720"/>
            <a:chOff x="0" y="0"/>
            <a:chExt cx="9143640" cy="342720"/>
          </a:xfrm>
        </p:grpSpPr>
        <p:sp>
          <p:nvSpPr>
            <p:cNvPr id="37" name="Google Shape;37;p17"/>
            <p:cNvSpPr/>
            <p:nvPr/>
          </p:nvSpPr>
          <p:spPr>
            <a:xfrm>
              <a:off x="0" y="0"/>
              <a:ext cx="9143640" cy="342720"/>
            </a:xfrm>
            <a:custGeom>
              <a:rect b="b" l="l" r="r" t="t"/>
              <a:pathLst>
                <a:path extrusionOk="0" h="1407" w="43778">
                  <a:moveTo>
                    <a:pt x="0" y="0"/>
                  </a:moveTo>
                  <a:lnTo>
                    <a:pt x="0" y="1406"/>
                  </a:lnTo>
                  <a:lnTo>
                    <a:pt x="43777" y="1406"/>
                  </a:lnTo>
                  <a:lnTo>
                    <a:pt x="4377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38" name="Google Shape;38;p17"/>
            <p:cNvGrpSpPr/>
            <p:nvPr/>
          </p:nvGrpSpPr>
          <p:grpSpPr>
            <a:xfrm>
              <a:off x="216000" y="111240"/>
              <a:ext cx="642600" cy="120240"/>
              <a:chOff x="216000" y="111240"/>
              <a:chExt cx="642600" cy="120240"/>
            </a:xfrm>
          </p:grpSpPr>
          <p:sp>
            <p:nvSpPr>
              <p:cNvPr id="39" name="Google Shape;39;p17"/>
              <p:cNvSpPr/>
              <p:nvPr/>
            </p:nvSpPr>
            <p:spPr>
              <a:xfrm>
                <a:off x="216000" y="111240"/>
                <a:ext cx="120240" cy="120240"/>
              </a:xfrm>
              <a:prstGeom prst="ellipse">
                <a:avLst/>
              </a:prstGeom>
              <a:solidFill>
                <a:schemeClr val="accent6"/>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 name="Google Shape;40;p17"/>
              <p:cNvSpPr/>
              <p:nvPr/>
            </p:nvSpPr>
            <p:spPr>
              <a:xfrm>
                <a:off x="477000" y="111240"/>
                <a:ext cx="120240" cy="120240"/>
              </a:xfrm>
              <a:prstGeom prst="ellipse">
                <a:avLst/>
              </a:prstGeom>
              <a:solidFill>
                <a:schemeClr val="accent5"/>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 name="Google Shape;41;p17"/>
              <p:cNvSpPr/>
              <p:nvPr/>
            </p:nvSpPr>
            <p:spPr>
              <a:xfrm>
                <a:off x="738360" y="111240"/>
                <a:ext cx="120240" cy="120240"/>
              </a:xfrm>
              <a:prstGeom prst="ellipse">
                <a:avLst/>
              </a:prstGeom>
              <a:solidFill>
                <a:schemeClr val="accent3"/>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42" name="Google Shape;42;p17"/>
          <p:cNvSpPr txBox="1"/>
          <p:nvPr>
            <p:ph type="title"/>
          </p:nvPr>
        </p:nvSpPr>
        <p:spPr>
          <a:xfrm>
            <a:off x="714240" y="549720"/>
            <a:ext cx="5868720" cy="4676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3" name="Google Shape;43;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9">
  <p:cSld name="CUSTOM_19">
    <p:bg>
      <p:bgPr>
        <a:solidFill>
          <a:schemeClr val="lt1"/>
        </a:solidFill>
      </p:bgPr>
    </p:bg>
    <p:spTree>
      <p:nvGrpSpPr>
        <p:cNvPr id="44" name="Shape 44"/>
        <p:cNvGrpSpPr/>
        <p:nvPr/>
      </p:nvGrpSpPr>
      <p:grpSpPr>
        <a:xfrm>
          <a:off x="0" y="0"/>
          <a:ext cx="0" cy="0"/>
          <a:chOff x="0" y="0"/>
          <a:chExt cx="0" cy="0"/>
        </a:xfrm>
      </p:grpSpPr>
      <p:grpSp>
        <p:nvGrpSpPr>
          <p:cNvPr id="45" name="Google Shape;45;p18"/>
          <p:cNvGrpSpPr/>
          <p:nvPr/>
        </p:nvGrpSpPr>
        <p:grpSpPr>
          <a:xfrm>
            <a:off x="0" y="0"/>
            <a:ext cx="9143640" cy="342720"/>
            <a:chOff x="0" y="0"/>
            <a:chExt cx="9143640" cy="342720"/>
          </a:xfrm>
        </p:grpSpPr>
        <p:sp>
          <p:nvSpPr>
            <p:cNvPr id="46" name="Google Shape;46;p18"/>
            <p:cNvSpPr/>
            <p:nvPr/>
          </p:nvSpPr>
          <p:spPr>
            <a:xfrm>
              <a:off x="0" y="0"/>
              <a:ext cx="9143640" cy="342720"/>
            </a:xfrm>
            <a:custGeom>
              <a:rect b="b" l="l" r="r" t="t"/>
              <a:pathLst>
                <a:path extrusionOk="0" h="1407" w="43778">
                  <a:moveTo>
                    <a:pt x="0" y="0"/>
                  </a:moveTo>
                  <a:lnTo>
                    <a:pt x="0" y="1406"/>
                  </a:lnTo>
                  <a:lnTo>
                    <a:pt x="43777" y="1406"/>
                  </a:lnTo>
                  <a:lnTo>
                    <a:pt x="4377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47" name="Google Shape;47;p18"/>
            <p:cNvGrpSpPr/>
            <p:nvPr/>
          </p:nvGrpSpPr>
          <p:grpSpPr>
            <a:xfrm>
              <a:off x="216000" y="111240"/>
              <a:ext cx="642600" cy="120240"/>
              <a:chOff x="216000" y="111240"/>
              <a:chExt cx="642600" cy="120240"/>
            </a:xfrm>
          </p:grpSpPr>
          <p:sp>
            <p:nvSpPr>
              <p:cNvPr id="48" name="Google Shape;48;p18"/>
              <p:cNvSpPr/>
              <p:nvPr/>
            </p:nvSpPr>
            <p:spPr>
              <a:xfrm>
                <a:off x="216000" y="111240"/>
                <a:ext cx="120240" cy="120240"/>
              </a:xfrm>
              <a:prstGeom prst="ellipse">
                <a:avLst/>
              </a:prstGeom>
              <a:solidFill>
                <a:schemeClr val="accent6"/>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 name="Google Shape;49;p18"/>
              <p:cNvSpPr/>
              <p:nvPr/>
            </p:nvSpPr>
            <p:spPr>
              <a:xfrm>
                <a:off x="477000" y="111240"/>
                <a:ext cx="120240" cy="120240"/>
              </a:xfrm>
              <a:prstGeom prst="ellipse">
                <a:avLst/>
              </a:prstGeom>
              <a:solidFill>
                <a:schemeClr val="accent5"/>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 name="Google Shape;50;p18"/>
              <p:cNvSpPr/>
              <p:nvPr/>
            </p:nvSpPr>
            <p:spPr>
              <a:xfrm>
                <a:off x="738360" y="111240"/>
                <a:ext cx="120240" cy="120240"/>
              </a:xfrm>
              <a:prstGeom prst="ellipse">
                <a:avLst/>
              </a:prstGeom>
              <a:solidFill>
                <a:schemeClr val="accent3"/>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51" name="Google Shape;51;p18"/>
          <p:cNvGrpSpPr/>
          <p:nvPr/>
        </p:nvGrpSpPr>
        <p:grpSpPr>
          <a:xfrm>
            <a:off x="66600" y="204480"/>
            <a:ext cx="9077040" cy="4939200"/>
            <a:chOff x="66600" y="204480"/>
            <a:chExt cx="9077040" cy="4939200"/>
          </a:xfrm>
        </p:grpSpPr>
        <p:grpSp>
          <p:nvGrpSpPr>
            <p:cNvPr id="52" name="Google Shape;52;p18"/>
            <p:cNvGrpSpPr/>
            <p:nvPr/>
          </p:nvGrpSpPr>
          <p:grpSpPr>
            <a:xfrm>
              <a:off x="66600" y="206640"/>
              <a:ext cx="9077040" cy="342720"/>
              <a:chOff x="66600" y="206640"/>
              <a:chExt cx="9077040" cy="342720"/>
            </a:xfrm>
          </p:grpSpPr>
          <p:sp>
            <p:nvSpPr>
              <p:cNvPr id="53" name="Google Shape;53;p18"/>
              <p:cNvSpPr/>
              <p:nvPr/>
            </p:nvSpPr>
            <p:spPr>
              <a:xfrm>
                <a:off x="66600" y="206640"/>
                <a:ext cx="9077040" cy="342720"/>
              </a:xfrm>
              <a:custGeom>
                <a:rect b="b" l="l" r="r" t="t"/>
                <a:pathLst>
                  <a:path extrusionOk="0" h="1407" w="43778">
                    <a:moveTo>
                      <a:pt x="0" y="0"/>
                    </a:moveTo>
                    <a:lnTo>
                      <a:pt x="0" y="1406"/>
                    </a:lnTo>
                    <a:lnTo>
                      <a:pt x="43777" y="1406"/>
                    </a:lnTo>
                    <a:lnTo>
                      <a:pt x="43777"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4" name="Google Shape;54;p18"/>
              <p:cNvGrpSpPr/>
              <p:nvPr/>
            </p:nvGrpSpPr>
            <p:grpSpPr>
              <a:xfrm>
                <a:off x="280080" y="317880"/>
                <a:ext cx="635400" cy="120240"/>
                <a:chOff x="280080" y="317880"/>
                <a:chExt cx="635400" cy="120240"/>
              </a:xfrm>
            </p:grpSpPr>
            <p:sp>
              <p:nvSpPr>
                <p:cNvPr id="55" name="Google Shape;55;p18"/>
                <p:cNvSpPr/>
                <p:nvPr/>
              </p:nvSpPr>
              <p:spPr>
                <a:xfrm>
                  <a:off x="280080" y="317880"/>
                  <a:ext cx="118800" cy="120240"/>
                </a:xfrm>
                <a:prstGeom prst="ellipse">
                  <a:avLst/>
                </a:prstGeom>
                <a:solidFill>
                  <a:schemeClr val="lt1"/>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 name="Google Shape;56;p18"/>
                <p:cNvSpPr/>
                <p:nvPr/>
              </p:nvSpPr>
              <p:spPr>
                <a:xfrm>
                  <a:off x="538200" y="317880"/>
                  <a:ext cx="118800" cy="120240"/>
                </a:xfrm>
                <a:prstGeom prst="ellipse">
                  <a:avLst/>
                </a:prstGeom>
                <a:solidFill>
                  <a:schemeClr val="lt1"/>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 name="Google Shape;57;p18"/>
                <p:cNvSpPr/>
                <p:nvPr/>
              </p:nvSpPr>
              <p:spPr>
                <a:xfrm>
                  <a:off x="796680" y="317880"/>
                  <a:ext cx="118800" cy="120240"/>
                </a:xfrm>
                <a:prstGeom prst="ellipse">
                  <a:avLst/>
                </a:prstGeom>
                <a:solidFill>
                  <a:schemeClr val="lt1"/>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cxnSp>
          <p:nvCxnSpPr>
            <p:cNvPr id="58" name="Google Shape;58;p18"/>
            <p:cNvCxnSpPr/>
            <p:nvPr/>
          </p:nvCxnSpPr>
          <p:spPr>
            <a:xfrm>
              <a:off x="66600" y="204480"/>
              <a:ext cx="360" cy="4939200"/>
            </a:xfrm>
            <a:prstGeom prst="straightConnector1">
              <a:avLst/>
            </a:prstGeom>
            <a:noFill/>
            <a:ln cap="flat" cmpd="sng" w="9525">
              <a:solidFill>
                <a:srgbClr val="7EACEC"/>
              </a:solidFill>
              <a:prstDash val="solid"/>
              <a:round/>
              <a:headEnd len="sm" w="sm" type="none"/>
              <a:tailEnd len="sm" w="sm" type="none"/>
            </a:ln>
          </p:spPr>
        </p:cxnSp>
      </p:grpSp>
      <p:sp>
        <p:nvSpPr>
          <p:cNvPr id="59" name="Google Shape;59;p18"/>
          <p:cNvSpPr txBox="1"/>
          <p:nvPr>
            <p:ph type="title"/>
          </p:nvPr>
        </p:nvSpPr>
        <p:spPr>
          <a:xfrm>
            <a:off x="3667680" y="1431720"/>
            <a:ext cx="4475160" cy="6307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0" name="Google Shape;60;p1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lt1"/>
        </a:solidFill>
      </p:bgPr>
    </p:bg>
    <p:spTree>
      <p:nvGrpSpPr>
        <p:cNvPr id="61" name="Shape 61"/>
        <p:cNvGrpSpPr/>
        <p:nvPr/>
      </p:nvGrpSpPr>
      <p:grpSpPr>
        <a:xfrm>
          <a:off x="0" y="0"/>
          <a:ext cx="0" cy="0"/>
          <a:chOff x="0" y="0"/>
          <a:chExt cx="0" cy="0"/>
        </a:xfrm>
      </p:grpSpPr>
      <p:grpSp>
        <p:nvGrpSpPr>
          <p:cNvPr id="62" name="Google Shape;62;p19"/>
          <p:cNvGrpSpPr/>
          <p:nvPr/>
        </p:nvGrpSpPr>
        <p:grpSpPr>
          <a:xfrm>
            <a:off x="213840" y="123840"/>
            <a:ext cx="8552520" cy="4510080"/>
            <a:chOff x="213840" y="123840"/>
            <a:chExt cx="8552520" cy="4510080"/>
          </a:xfrm>
        </p:grpSpPr>
        <p:sp>
          <p:nvSpPr>
            <p:cNvPr id="63" name="Google Shape;63;p19"/>
            <p:cNvSpPr/>
            <p:nvPr/>
          </p:nvSpPr>
          <p:spPr>
            <a:xfrm flipH="1">
              <a:off x="213840" y="123840"/>
              <a:ext cx="8552520" cy="4510080"/>
            </a:xfrm>
            <a:prstGeom prst="roundRect">
              <a:avLst>
                <a:gd fmla="val 4601"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 name="Google Shape;64;p19"/>
            <p:cNvSpPr/>
            <p:nvPr/>
          </p:nvSpPr>
          <p:spPr>
            <a:xfrm flipH="1">
              <a:off x="300240" y="403920"/>
              <a:ext cx="8403840" cy="4151520"/>
            </a:xfrm>
            <a:prstGeom prst="roundRect">
              <a:avLst>
                <a:gd fmla="val 4795"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 name="Google Shape;65;p19"/>
            <p:cNvSpPr/>
            <p:nvPr/>
          </p:nvSpPr>
          <p:spPr>
            <a:xfrm flipH="1">
              <a:off x="299160" y="219240"/>
              <a:ext cx="100440" cy="100440"/>
            </a:xfrm>
            <a:custGeom>
              <a:rect b="b" l="l" r="r" t="t"/>
              <a:pathLst>
                <a:path extrusionOk="0" h="349" w="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accent6"/>
            </a:solidFill>
            <a:ln>
              <a:noFill/>
            </a:ln>
          </p:spPr>
          <p:txBody>
            <a:bodyPr anchorCtr="0" anchor="ctr" bIns="50400" lIns="91425" spcFirstLastPara="1" rIns="91425" wrap="square" tIns="50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 name="Google Shape;66;p19"/>
            <p:cNvSpPr/>
            <p:nvPr/>
          </p:nvSpPr>
          <p:spPr>
            <a:xfrm flipH="1">
              <a:off x="463320" y="219240"/>
              <a:ext cx="100080" cy="100440"/>
            </a:xfrm>
            <a:custGeom>
              <a:rect b="b" l="l" r="r" t="t"/>
              <a:pathLst>
                <a:path extrusionOk="0" h="349" w="348">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accent5"/>
            </a:solidFill>
            <a:ln>
              <a:noFill/>
            </a:ln>
          </p:spPr>
          <p:txBody>
            <a:bodyPr anchorCtr="0" anchor="ctr" bIns="50400" lIns="91425" spcFirstLastPara="1" rIns="91425" wrap="square" tIns="50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 name="Google Shape;67;p19"/>
            <p:cNvSpPr/>
            <p:nvPr/>
          </p:nvSpPr>
          <p:spPr>
            <a:xfrm flipH="1">
              <a:off x="629280" y="217800"/>
              <a:ext cx="121320" cy="103320"/>
            </a:xfrm>
            <a:custGeom>
              <a:rect b="b" l="l" r="r" t="t"/>
              <a:pathLst>
                <a:path extrusionOk="0" h="359" w="422">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accent3"/>
            </a:solidFill>
            <a:ln>
              <a:noFill/>
            </a:ln>
          </p:spPr>
          <p:txBody>
            <a:bodyPr anchorCtr="0" anchor="ctr" bIns="51825" lIns="91425" spcFirstLastPara="1" rIns="91425" wrap="square" tIns="51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68" name="Google Shape;68;p19"/>
          <p:cNvGrpSpPr/>
          <p:nvPr/>
        </p:nvGrpSpPr>
        <p:grpSpPr>
          <a:xfrm>
            <a:off x="393480" y="461880"/>
            <a:ext cx="8552520" cy="4510080"/>
            <a:chOff x="393480" y="461880"/>
            <a:chExt cx="8552520" cy="4510080"/>
          </a:xfrm>
        </p:grpSpPr>
        <p:sp>
          <p:nvSpPr>
            <p:cNvPr id="69" name="Google Shape;69;p19"/>
            <p:cNvSpPr/>
            <p:nvPr/>
          </p:nvSpPr>
          <p:spPr>
            <a:xfrm flipH="1">
              <a:off x="393480" y="461880"/>
              <a:ext cx="8552520" cy="4510080"/>
            </a:xfrm>
            <a:prstGeom prst="roundRect">
              <a:avLst>
                <a:gd fmla="val 4601"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 name="Google Shape;70;p19"/>
            <p:cNvSpPr/>
            <p:nvPr/>
          </p:nvSpPr>
          <p:spPr>
            <a:xfrm flipH="1">
              <a:off x="479520" y="741960"/>
              <a:ext cx="8403840" cy="4151520"/>
            </a:xfrm>
            <a:prstGeom prst="roundRect">
              <a:avLst>
                <a:gd fmla="val 4795"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 name="Google Shape;71;p19"/>
            <p:cNvSpPr/>
            <p:nvPr/>
          </p:nvSpPr>
          <p:spPr>
            <a:xfrm flipH="1">
              <a:off x="478800" y="556920"/>
              <a:ext cx="100440" cy="100440"/>
            </a:xfrm>
            <a:custGeom>
              <a:rect b="b" l="l" r="r" t="t"/>
              <a:pathLst>
                <a:path extrusionOk="0" h="349" w="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anchorCtr="0" anchor="ctr" bIns="50400" lIns="91425" spcFirstLastPara="1" rIns="91425" wrap="square" tIns="50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 name="Google Shape;72;p19"/>
            <p:cNvSpPr/>
            <p:nvPr/>
          </p:nvSpPr>
          <p:spPr>
            <a:xfrm flipH="1">
              <a:off x="642600" y="556920"/>
              <a:ext cx="100080" cy="100440"/>
            </a:xfrm>
            <a:custGeom>
              <a:rect b="b" l="l" r="r" t="t"/>
              <a:pathLst>
                <a:path extrusionOk="0" h="349" w="348">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anchorCtr="0" anchor="ctr" bIns="50400" lIns="91425" spcFirstLastPara="1" rIns="91425" wrap="square" tIns="50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 name="Google Shape;73;p19"/>
            <p:cNvSpPr/>
            <p:nvPr/>
          </p:nvSpPr>
          <p:spPr>
            <a:xfrm flipH="1">
              <a:off x="808920" y="555480"/>
              <a:ext cx="121320" cy="103320"/>
            </a:xfrm>
            <a:custGeom>
              <a:rect b="b" l="l" r="r" t="t"/>
              <a:pathLst>
                <a:path extrusionOk="0" h="359" w="422">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anchorCtr="0" anchor="ctr" bIns="51825" lIns="91425" spcFirstLastPara="1" rIns="91425" wrap="square" tIns="51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4" name="Google Shape;74;p19"/>
          <p:cNvSpPr txBox="1"/>
          <p:nvPr>
            <p:ph type="title"/>
          </p:nvPr>
        </p:nvSpPr>
        <p:spPr>
          <a:xfrm>
            <a:off x="1019160" y="808560"/>
            <a:ext cx="3552480" cy="10375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5" name="Google Shape;75;p19"/>
          <p:cNvSpPr/>
          <p:nvPr/>
        </p:nvSpPr>
        <p:spPr>
          <a:xfrm>
            <a:off x="1019160" y="3813120"/>
            <a:ext cx="3422160" cy="685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n-US" sz="900" u="none" strike="noStrike">
                <a:solidFill>
                  <a:srgbClr val="434343"/>
                </a:solidFill>
                <a:latin typeface="Montserrat"/>
                <a:ea typeface="Montserrat"/>
                <a:cs typeface="Montserrat"/>
                <a:sym typeface="Montserrat"/>
              </a:rPr>
              <a:t>CREDITS: This presentation template was created by </a:t>
            </a:r>
            <a:r>
              <a:rPr b="0" lang="en-US" sz="900" u="sng" strike="noStrike">
                <a:solidFill>
                  <a:srgbClr val="434343"/>
                </a:solidFill>
                <a:latin typeface="Montserrat"/>
                <a:ea typeface="Montserrat"/>
                <a:cs typeface="Montserrat"/>
                <a:sym typeface="Montserrat"/>
                <a:hlinkClick r:id="rId2">
                  <a:extLst>
                    <a:ext uri="{A12FA001-AC4F-418D-AE19-62706E023703}">
                      <ahyp:hlinkClr val="tx"/>
                    </a:ext>
                  </a:extLst>
                </a:hlinkClick>
              </a:rPr>
              <a:t>Slidesgo</a:t>
            </a:r>
            <a:r>
              <a:rPr b="0" lang="en-US" sz="900" u="none" strike="noStrike">
                <a:solidFill>
                  <a:srgbClr val="434343"/>
                </a:solidFill>
                <a:latin typeface="Montserrat"/>
                <a:ea typeface="Montserrat"/>
                <a:cs typeface="Montserrat"/>
                <a:sym typeface="Montserrat"/>
              </a:rPr>
              <a:t>, including icons, infographics &amp; images by </a:t>
            </a:r>
            <a:r>
              <a:rPr b="0" lang="en-US" sz="900" u="sng" strike="noStrike">
                <a:solidFill>
                  <a:srgbClr val="434343"/>
                </a:solidFill>
                <a:latin typeface="Montserrat"/>
                <a:ea typeface="Montserrat"/>
                <a:cs typeface="Montserrat"/>
                <a:sym typeface="Montserrat"/>
                <a:hlinkClick r:id="rId3">
                  <a:extLst>
                    <a:ext uri="{A12FA001-AC4F-418D-AE19-62706E023703}">
                      <ahyp:hlinkClr val="tx"/>
                    </a:ext>
                  </a:extLst>
                </a:hlinkClick>
              </a:rPr>
              <a:t>Freepik</a:t>
            </a:r>
            <a:r>
              <a:rPr b="0" lang="en-US" sz="900" u="none" strike="noStrike">
                <a:solidFill>
                  <a:srgbClr val="434343"/>
                </a:solidFill>
                <a:latin typeface="Montserrat"/>
                <a:ea typeface="Montserrat"/>
                <a:cs typeface="Montserrat"/>
                <a:sym typeface="Montserrat"/>
              </a:rPr>
              <a:t> and illustrations</a:t>
            </a:r>
            <a:endParaRPr b="0" sz="9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mayoclinic.org/diseases-conditions/diabetic-coma/symptoms-causes/syc-20371475" TargetMode="External"/><Relationship Id="rId4" Type="http://schemas.openxmlformats.org/officeDocument/2006/relationships/hyperlink" Target="https://www.cdc.gov/pcd/issues/2025/24_0199.htm" TargetMode="External"/><Relationship Id="rId5" Type="http://schemas.openxmlformats.org/officeDocument/2006/relationships/hyperlink" Target="https://my.clevelandclinic.org/health/diseases/7104-diabet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
          <p:cNvSpPr/>
          <p:nvPr/>
        </p:nvSpPr>
        <p:spPr>
          <a:xfrm>
            <a:off x="7782372" y="1513374"/>
            <a:ext cx="618634" cy="614936"/>
          </a:xfrm>
          <a:custGeom>
            <a:rect b="b" l="l" r="r" t="t"/>
            <a:pathLst>
              <a:path extrusionOk="0" h="9094" w="9148">
                <a:moveTo>
                  <a:pt x="4561" y="2153"/>
                </a:moveTo>
                <a:cubicBezTo>
                  <a:pt x="4628" y="2153"/>
                  <a:pt x="4697" y="2157"/>
                  <a:pt x="4770" y="2164"/>
                </a:cubicBezTo>
                <a:cubicBezTo>
                  <a:pt x="4799" y="2164"/>
                  <a:pt x="4828" y="2164"/>
                  <a:pt x="4871" y="2179"/>
                </a:cubicBezTo>
                <a:lnTo>
                  <a:pt x="4972" y="2193"/>
                </a:lnTo>
                <a:cubicBezTo>
                  <a:pt x="5001" y="2193"/>
                  <a:pt x="5030" y="2193"/>
                  <a:pt x="5074" y="2208"/>
                </a:cubicBezTo>
                <a:cubicBezTo>
                  <a:pt x="5146" y="2222"/>
                  <a:pt x="5233" y="2251"/>
                  <a:pt x="5320" y="2280"/>
                </a:cubicBezTo>
                <a:lnTo>
                  <a:pt x="5393" y="2295"/>
                </a:lnTo>
                <a:cubicBezTo>
                  <a:pt x="5494" y="2338"/>
                  <a:pt x="5610" y="2382"/>
                  <a:pt x="5712" y="2440"/>
                </a:cubicBezTo>
                <a:cubicBezTo>
                  <a:pt x="5755" y="2469"/>
                  <a:pt x="5784" y="2483"/>
                  <a:pt x="5813" y="2498"/>
                </a:cubicBezTo>
                <a:cubicBezTo>
                  <a:pt x="5842" y="2527"/>
                  <a:pt x="5886" y="2541"/>
                  <a:pt x="5915" y="2570"/>
                </a:cubicBezTo>
                <a:lnTo>
                  <a:pt x="6002" y="2628"/>
                </a:lnTo>
                <a:lnTo>
                  <a:pt x="6016" y="2643"/>
                </a:lnTo>
                <a:cubicBezTo>
                  <a:pt x="6045" y="2657"/>
                  <a:pt x="6074" y="2686"/>
                  <a:pt x="6103" y="2715"/>
                </a:cubicBezTo>
                <a:cubicBezTo>
                  <a:pt x="6132" y="2730"/>
                  <a:pt x="6161" y="2759"/>
                  <a:pt x="6190" y="2788"/>
                </a:cubicBezTo>
                <a:cubicBezTo>
                  <a:pt x="6248" y="2845"/>
                  <a:pt x="6306" y="2903"/>
                  <a:pt x="6364" y="2961"/>
                </a:cubicBezTo>
                <a:cubicBezTo>
                  <a:pt x="6379" y="2990"/>
                  <a:pt x="6408" y="3005"/>
                  <a:pt x="6422" y="3034"/>
                </a:cubicBezTo>
                <a:cubicBezTo>
                  <a:pt x="6466" y="3077"/>
                  <a:pt x="6495" y="3121"/>
                  <a:pt x="6524" y="3164"/>
                </a:cubicBezTo>
                <a:lnTo>
                  <a:pt x="6567" y="3222"/>
                </a:lnTo>
                <a:cubicBezTo>
                  <a:pt x="6625" y="3309"/>
                  <a:pt x="6668" y="3382"/>
                  <a:pt x="6712" y="3469"/>
                </a:cubicBezTo>
                <a:cubicBezTo>
                  <a:pt x="6726" y="3498"/>
                  <a:pt x="6741" y="3527"/>
                  <a:pt x="6755" y="3556"/>
                </a:cubicBezTo>
                <a:lnTo>
                  <a:pt x="6770" y="3570"/>
                </a:lnTo>
                <a:cubicBezTo>
                  <a:pt x="6784" y="3614"/>
                  <a:pt x="6799" y="3643"/>
                  <a:pt x="6813" y="3686"/>
                </a:cubicBezTo>
                <a:lnTo>
                  <a:pt x="6813" y="3701"/>
                </a:lnTo>
                <a:cubicBezTo>
                  <a:pt x="6828" y="3730"/>
                  <a:pt x="6828" y="3759"/>
                  <a:pt x="6842" y="3788"/>
                </a:cubicBezTo>
                <a:cubicBezTo>
                  <a:pt x="6857" y="3802"/>
                  <a:pt x="6857" y="3817"/>
                  <a:pt x="6857" y="3846"/>
                </a:cubicBezTo>
                <a:cubicBezTo>
                  <a:pt x="6886" y="3918"/>
                  <a:pt x="6900" y="3991"/>
                  <a:pt x="6929" y="4078"/>
                </a:cubicBezTo>
                <a:cubicBezTo>
                  <a:pt x="6929" y="4107"/>
                  <a:pt x="6929" y="4121"/>
                  <a:pt x="6944" y="4150"/>
                </a:cubicBezTo>
                <a:cubicBezTo>
                  <a:pt x="6944" y="4208"/>
                  <a:pt x="6958" y="4266"/>
                  <a:pt x="6973" y="4324"/>
                </a:cubicBezTo>
                <a:cubicBezTo>
                  <a:pt x="6973" y="4382"/>
                  <a:pt x="6973" y="4498"/>
                  <a:pt x="6973" y="4585"/>
                </a:cubicBezTo>
                <a:cubicBezTo>
                  <a:pt x="6973" y="4657"/>
                  <a:pt x="6987" y="4701"/>
                  <a:pt x="6987" y="4788"/>
                </a:cubicBezTo>
                <a:cubicBezTo>
                  <a:pt x="6987" y="4788"/>
                  <a:pt x="6987" y="4802"/>
                  <a:pt x="6987" y="4802"/>
                </a:cubicBezTo>
                <a:lnTo>
                  <a:pt x="6973" y="4933"/>
                </a:lnTo>
                <a:cubicBezTo>
                  <a:pt x="6973" y="4976"/>
                  <a:pt x="6958" y="5005"/>
                  <a:pt x="6944" y="5049"/>
                </a:cubicBezTo>
                <a:cubicBezTo>
                  <a:pt x="6929" y="5136"/>
                  <a:pt x="6900" y="5208"/>
                  <a:pt x="6871" y="5295"/>
                </a:cubicBezTo>
                <a:cubicBezTo>
                  <a:pt x="6857" y="5339"/>
                  <a:pt x="6842" y="5382"/>
                  <a:pt x="6828" y="5426"/>
                </a:cubicBezTo>
                <a:cubicBezTo>
                  <a:pt x="6813" y="5484"/>
                  <a:pt x="6799" y="5513"/>
                  <a:pt x="6770" y="5556"/>
                </a:cubicBezTo>
                <a:lnTo>
                  <a:pt x="6726" y="5643"/>
                </a:lnTo>
                <a:cubicBezTo>
                  <a:pt x="6697" y="5716"/>
                  <a:pt x="6639" y="5788"/>
                  <a:pt x="6596" y="5861"/>
                </a:cubicBezTo>
                <a:lnTo>
                  <a:pt x="6553" y="5919"/>
                </a:lnTo>
                <a:cubicBezTo>
                  <a:pt x="6553" y="5933"/>
                  <a:pt x="6553" y="5948"/>
                  <a:pt x="6538" y="5948"/>
                </a:cubicBezTo>
                <a:lnTo>
                  <a:pt x="6495" y="6020"/>
                </a:lnTo>
                <a:lnTo>
                  <a:pt x="6422" y="6093"/>
                </a:lnTo>
                <a:cubicBezTo>
                  <a:pt x="6379" y="6151"/>
                  <a:pt x="6335" y="6194"/>
                  <a:pt x="6292" y="6237"/>
                </a:cubicBezTo>
                <a:cubicBezTo>
                  <a:pt x="6263" y="6266"/>
                  <a:pt x="6248" y="6281"/>
                  <a:pt x="6219" y="6310"/>
                </a:cubicBezTo>
                <a:lnTo>
                  <a:pt x="6161" y="6368"/>
                </a:lnTo>
                <a:lnTo>
                  <a:pt x="6060" y="6440"/>
                </a:lnTo>
                <a:cubicBezTo>
                  <a:pt x="5973" y="6513"/>
                  <a:pt x="5900" y="6571"/>
                  <a:pt x="5813" y="6614"/>
                </a:cubicBezTo>
                <a:lnTo>
                  <a:pt x="5726" y="6672"/>
                </a:lnTo>
                <a:lnTo>
                  <a:pt x="5625" y="6716"/>
                </a:lnTo>
                <a:lnTo>
                  <a:pt x="5538" y="6759"/>
                </a:lnTo>
                <a:lnTo>
                  <a:pt x="5378" y="6817"/>
                </a:lnTo>
                <a:cubicBezTo>
                  <a:pt x="5349" y="6832"/>
                  <a:pt x="5306" y="6846"/>
                  <a:pt x="5277" y="6846"/>
                </a:cubicBezTo>
                <a:cubicBezTo>
                  <a:pt x="5219" y="6875"/>
                  <a:pt x="5146" y="6890"/>
                  <a:pt x="5088" y="6904"/>
                </a:cubicBezTo>
                <a:cubicBezTo>
                  <a:pt x="5045" y="6904"/>
                  <a:pt x="5016" y="6919"/>
                  <a:pt x="4987" y="6919"/>
                </a:cubicBezTo>
                <a:cubicBezTo>
                  <a:pt x="4944" y="6933"/>
                  <a:pt x="4915" y="6933"/>
                  <a:pt x="4886" y="6933"/>
                </a:cubicBezTo>
                <a:cubicBezTo>
                  <a:pt x="4763" y="6944"/>
                  <a:pt x="4640" y="6954"/>
                  <a:pt x="4517" y="6954"/>
                </a:cubicBezTo>
                <a:cubicBezTo>
                  <a:pt x="4466" y="6954"/>
                  <a:pt x="4415" y="6952"/>
                  <a:pt x="4364" y="6948"/>
                </a:cubicBezTo>
                <a:cubicBezTo>
                  <a:pt x="4335" y="6948"/>
                  <a:pt x="4306" y="6933"/>
                  <a:pt x="4277" y="6933"/>
                </a:cubicBezTo>
                <a:cubicBezTo>
                  <a:pt x="4233" y="6933"/>
                  <a:pt x="4204" y="6933"/>
                  <a:pt x="4175" y="6919"/>
                </a:cubicBezTo>
                <a:cubicBezTo>
                  <a:pt x="4132" y="6919"/>
                  <a:pt x="4103" y="6904"/>
                  <a:pt x="4074" y="6904"/>
                </a:cubicBezTo>
                <a:cubicBezTo>
                  <a:pt x="3958" y="6875"/>
                  <a:pt x="3842" y="6846"/>
                  <a:pt x="3726" y="6803"/>
                </a:cubicBezTo>
                <a:cubicBezTo>
                  <a:pt x="3697" y="6788"/>
                  <a:pt x="3668" y="6788"/>
                  <a:pt x="3624" y="6774"/>
                </a:cubicBezTo>
                <a:lnTo>
                  <a:pt x="3523" y="6730"/>
                </a:lnTo>
                <a:lnTo>
                  <a:pt x="3508" y="6730"/>
                </a:lnTo>
                <a:cubicBezTo>
                  <a:pt x="3479" y="6716"/>
                  <a:pt x="3450" y="6701"/>
                  <a:pt x="3407" y="6687"/>
                </a:cubicBezTo>
                <a:cubicBezTo>
                  <a:pt x="3349" y="6643"/>
                  <a:pt x="3277" y="6600"/>
                  <a:pt x="3219" y="6556"/>
                </a:cubicBezTo>
                <a:cubicBezTo>
                  <a:pt x="3175" y="6542"/>
                  <a:pt x="3146" y="6527"/>
                  <a:pt x="3117" y="6498"/>
                </a:cubicBezTo>
                <a:lnTo>
                  <a:pt x="3045" y="6440"/>
                </a:lnTo>
                <a:cubicBezTo>
                  <a:pt x="3001" y="6411"/>
                  <a:pt x="2972" y="6368"/>
                  <a:pt x="2929" y="6339"/>
                </a:cubicBezTo>
                <a:cubicBezTo>
                  <a:pt x="2900" y="6310"/>
                  <a:pt x="2871" y="6281"/>
                  <a:pt x="2827" y="6237"/>
                </a:cubicBezTo>
                <a:lnTo>
                  <a:pt x="2755" y="6151"/>
                </a:lnTo>
                <a:cubicBezTo>
                  <a:pt x="2653" y="6049"/>
                  <a:pt x="2581" y="5933"/>
                  <a:pt x="2494" y="5817"/>
                </a:cubicBezTo>
                <a:cubicBezTo>
                  <a:pt x="2479" y="5774"/>
                  <a:pt x="2465" y="5745"/>
                  <a:pt x="2436" y="5716"/>
                </a:cubicBezTo>
                <a:cubicBezTo>
                  <a:pt x="2421" y="5672"/>
                  <a:pt x="2392" y="5629"/>
                  <a:pt x="2378" y="5600"/>
                </a:cubicBezTo>
                <a:cubicBezTo>
                  <a:pt x="2363" y="5556"/>
                  <a:pt x="2363" y="5556"/>
                  <a:pt x="2349" y="5527"/>
                </a:cubicBezTo>
                <a:cubicBezTo>
                  <a:pt x="2349" y="5513"/>
                  <a:pt x="2334" y="5498"/>
                  <a:pt x="2334" y="5484"/>
                </a:cubicBezTo>
                <a:cubicBezTo>
                  <a:pt x="2334" y="5469"/>
                  <a:pt x="2320" y="5440"/>
                  <a:pt x="2305" y="5426"/>
                </a:cubicBezTo>
                <a:cubicBezTo>
                  <a:pt x="2305" y="5397"/>
                  <a:pt x="2291" y="5368"/>
                  <a:pt x="2276" y="5339"/>
                </a:cubicBezTo>
                <a:cubicBezTo>
                  <a:pt x="2276" y="5339"/>
                  <a:pt x="2276" y="5324"/>
                  <a:pt x="2276" y="5310"/>
                </a:cubicBezTo>
                <a:cubicBezTo>
                  <a:pt x="2262" y="5281"/>
                  <a:pt x="2247" y="5252"/>
                  <a:pt x="2247" y="5223"/>
                </a:cubicBezTo>
                <a:cubicBezTo>
                  <a:pt x="2233" y="5165"/>
                  <a:pt x="2218" y="5121"/>
                  <a:pt x="2204" y="5063"/>
                </a:cubicBezTo>
                <a:cubicBezTo>
                  <a:pt x="2204" y="5034"/>
                  <a:pt x="2189" y="5005"/>
                  <a:pt x="2189" y="4976"/>
                </a:cubicBezTo>
                <a:cubicBezTo>
                  <a:pt x="2175" y="4918"/>
                  <a:pt x="2160" y="4860"/>
                  <a:pt x="2160" y="4802"/>
                </a:cubicBezTo>
                <a:cubicBezTo>
                  <a:pt x="2160" y="4730"/>
                  <a:pt x="2146" y="4643"/>
                  <a:pt x="2146" y="4556"/>
                </a:cubicBezTo>
                <a:cubicBezTo>
                  <a:pt x="2146" y="4484"/>
                  <a:pt x="2160" y="4397"/>
                  <a:pt x="2160" y="4310"/>
                </a:cubicBezTo>
                <a:cubicBezTo>
                  <a:pt x="2160" y="4310"/>
                  <a:pt x="2160" y="4295"/>
                  <a:pt x="2160" y="4295"/>
                </a:cubicBezTo>
                <a:cubicBezTo>
                  <a:pt x="2160" y="4252"/>
                  <a:pt x="2175" y="4208"/>
                  <a:pt x="2175" y="4179"/>
                </a:cubicBezTo>
                <a:cubicBezTo>
                  <a:pt x="2189" y="4136"/>
                  <a:pt x="2189" y="4092"/>
                  <a:pt x="2204" y="4049"/>
                </a:cubicBezTo>
                <a:cubicBezTo>
                  <a:pt x="2218" y="3962"/>
                  <a:pt x="2247" y="3889"/>
                  <a:pt x="2262" y="3802"/>
                </a:cubicBezTo>
                <a:lnTo>
                  <a:pt x="2305" y="3715"/>
                </a:lnTo>
                <a:cubicBezTo>
                  <a:pt x="2305" y="3686"/>
                  <a:pt x="2320" y="3657"/>
                  <a:pt x="2334" y="3643"/>
                </a:cubicBezTo>
                <a:cubicBezTo>
                  <a:pt x="2334" y="3614"/>
                  <a:pt x="2349" y="3599"/>
                  <a:pt x="2349" y="3585"/>
                </a:cubicBezTo>
                <a:cubicBezTo>
                  <a:pt x="2363" y="3570"/>
                  <a:pt x="2378" y="3541"/>
                  <a:pt x="2378" y="3527"/>
                </a:cubicBezTo>
                <a:cubicBezTo>
                  <a:pt x="2407" y="3454"/>
                  <a:pt x="2450" y="3396"/>
                  <a:pt x="2479" y="3338"/>
                </a:cubicBezTo>
                <a:lnTo>
                  <a:pt x="2537" y="3251"/>
                </a:lnTo>
                <a:lnTo>
                  <a:pt x="2581" y="3179"/>
                </a:lnTo>
                <a:cubicBezTo>
                  <a:pt x="2610" y="3135"/>
                  <a:pt x="2639" y="3106"/>
                  <a:pt x="2668" y="3077"/>
                </a:cubicBezTo>
                <a:cubicBezTo>
                  <a:pt x="2697" y="3034"/>
                  <a:pt x="2711" y="3005"/>
                  <a:pt x="2740" y="2976"/>
                </a:cubicBezTo>
                <a:cubicBezTo>
                  <a:pt x="2769" y="2947"/>
                  <a:pt x="2798" y="2918"/>
                  <a:pt x="2827" y="2874"/>
                </a:cubicBezTo>
                <a:cubicBezTo>
                  <a:pt x="2987" y="2730"/>
                  <a:pt x="3146" y="2599"/>
                  <a:pt x="3334" y="2483"/>
                </a:cubicBezTo>
                <a:lnTo>
                  <a:pt x="3421" y="2440"/>
                </a:lnTo>
                <a:lnTo>
                  <a:pt x="3508" y="2396"/>
                </a:lnTo>
                <a:lnTo>
                  <a:pt x="3610" y="2353"/>
                </a:lnTo>
                <a:cubicBezTo>
                  <a:pt x="3653" y="2324"/>
                  <a:pt x="3711" y="2309"/>
                  <a:pt x="3769" y="2280"/>
                </a:cubicBezTo>
                <a:cubicBezTo>
                  <a:pt x="3798" y="2266"/>
                  <a:pt x="3827" y="2266"/>
                  <a:pt x="3856" y="2251"/>
                </a:cubicBezTo>
                <a:lnTo>
                  <a:pt x="3958" y="2222"/>
                </a:lnTo>
                <a:cubicBezTo>
                  <a:pt x="4016" y="2208"/>
                  <a:pt x="4088" y="2193"/>
                  <a:pt x="4161" y="2193"/>
                </a:cubicBezTo>
                <a:lnTo>
                  <a:pt x="4262" y="2179"/>
                </a:lnTo>
                <a:lnTo>
                  <a:pt x="4364" y="2164"/>
                </a:lnTo>
                <a:cubicBezTo>
                  <a:pt x="4429" y="2157"/>
                  <a:pt x="4494" y="2153"/>
                  <a:pt x="4561" y="2153"/>
                </a:cubicBezTo>
                <a:close/>
                <a:moveTo>
                  <a:pt x="4588" y="1"/>
                </a:moveTo>
                <a:cubicBezTo>
                  <a:pt x="4422" y="1"/>
                  <a:pt x="4255" y="12"/>
                  <a:pt x="4088" y="33"/>
                </a:cubicBezTo>
                <a:cubicBezTo>
                  <a:pt x="3827" y="62"/>
                  <a:pt x="3624" y="309"/>
                  <a:pt x="3653" y="570"/>
                </a:cubicBezTo>
                <a:lnTo>
                  <a:pt x="3653" y="613"/>
                </a:lnTo>
                <a:cubicBezTo>
                  <a:pt x="3653" y="642"/>
                  <a:pt x="3653" y="657"/>
                  <a:pt x="3653" y="686"/>
                </a:cubicBezTo>
                <a:cubicBezTo>
                  <a:pt x="3653" y="874"/>
                  <a:pt x="3552" y="1048"/>
                  <a:pt x="3378" y="1135"/>
                </a:cubicBezTo>
                <a:lnTo>
                  <a:pt x="3334" y="1149"/>
                </a:lnTo>
                <a:lnTo>
                  <a:pt x="3190" y="1207"/>
                </a:lnTo>
                <a:lnTo>
                  <a:pt x="3059" y="1265"/>
                </a:lnTo>
                <a:lnTo>
                  <a:pt x="3030" y="1280"/>
                </a:lnTo>
                <a:cubicBezTo>
                  <a:pt x="2964" y="1306"/>
                  <a:pt x="2895" y="1319"/>
                  <a:pt x="2827" y="1319"/>
                </a:cubicBezTo>
                <a:cubicBezTo>
                  <a:pt x="2673" y="1319"/>
                  <a:pt x="2526" y="1252"/>
                  <a:pt x="2436" y="1121"/>
                </a:cubicBezTo>
                <a:cubicBezTo>
                  <a:pt x="2336" y="985"/>
                  <a:pt x="2185" y="917"/>
                  <a:pt x="2030" y="917"/>
                </a:cubicBezTo>
                <a:cubicBezTo>
                  <a:pt x="1937" y="917"/>
                  <a:pt x="1841" y="941"/>
                  <a:pt x="1754" y="990"/>
                </a:cubicBezTo>
                <a:lnTo>
                  <a:pt x="1711" y="1019"/>
                </a:lnTo>
                <a:cubicBezTo>
                  <a:pt x="1465" y="1222"/>
                  <a:pt x="1233" y="1454"/>
                  <a:pt x="1030" y="1715"/>
                </a:cubicBezTo>
                <a:cubicBezTo>
                  <a:pt x="928" y="1845"/>
                  <a:pt x="885" y="2005"/>
                  <a:pt x="943" y="2164"/>
                </a:cubicBezTo>
                <a:cubicBezTo>
                  <a:pt x="957" y="2208"/>
                  <a:pt x="972" y="2251"/>
                  <a:pt x="1001" y="2295"/>
                </a:cubicBezTo>
                <a:cubicBezTo>
                  <a:pt x="1015" y="2324"/>
                  <a:pt x="1044" y="2367"/>
                  <a:pt x="1073" y="2382"/>
                </a:cubicBezTo>
                <a:lnTo>
                  <a:pt x="1117" y="2425"/>
                </a:lnTo>
                <a:cubicBezTo>
                  <a:pt x="1305" y="2570"/>
                  <a:pt x="1378" y="2817"/>
                  <a:pt x="1276" y="3034"/>
                </a:cubicBezTo>
                <a:cubicBezTo>
                  <a:pt x="1233" y="3135"/>
                  <a:pt x="1189" y="3237"/>
                  <a:pt x="1146" y="3338"/>
                </a:cubicBezTo>
                <a:cubicBezTo>
                  <a:pt x="1131" y="3396"/>
                  <a:pt x="1102" y="3454"/>
                  <a:pt x="1059" y="3498"/>
                </a:cubicBezTo>
                <a:cubicBezTo>
                  <a:pt x="1030" y="3527"/>
                  <a:pt x="1001" y="3541"/>
                  <a:pt x="972" y="3570"/>
                </a:cubicBezTo>
                <a:cubicBezTo>
                  <a:pt x="943" y="3585"/>
                  <a:pt x="899" y="3599"/>
                  <a:pt x="870" y="3614"/>
                </a:cubicBezTo>
                <a:cubicBezTo>
                  <a:pt x="841" y="3628"/>
                  <a:pt x="827" y="3643"/>
                  <a:pt x="798" y="3643"/>
                </a:cubicBezTo>
                <a:cubicBezTo>
                  <a:pt x="769" y="3650"/>
                  <a:pt x="740" y="3654"/>
                  <a:pt x="711" y="3654"/>
                </a:cubicBezTo>
                <a:cubicBezTo>
                  <a:pt x="682" y="3654"/>
                  <a:pt x="653" y="3650"/>
                  <a:pt x="624" y="3643"/>
                </a:cubicBezTo>
                <a:lnTo>
                  <a:pt x="450" y="3643"/>
                </a:lnTo>
                <a:cubicBezTo>
                  <a:pt x="232" y="3686"/>
                  <a:pt x="73" y="3860"/>
                  <a:pt x="44" y="4078"/>
                </a:cubicBezTo>
                <a:cubicBezTo>
                  <a:pt x="0" y="4397"/>
                  <a:pt x="0" y="4730"/>
                  <a:pt x="44" y="5049"/>
                </a:cubicBezTo>
                <a:cubicBezTo>
                  <a:pt x="70" y="5305"/>
                  <a:pt x="277" y="5494"/>
                  <a:pt x="525" y="5494"/>
                </a:cubicBezTo>
                <a:cubicBezTo>
                  <a:pt x="557" y="5494"/>
                  <a:pt x="590" y="5490"/>
                  <a:pt x="624" y="5484"/>
                </a:cubicBezTo>
                <a:lnTo>
                  <a:pt x="696" y="5484"/>
                </a:lnTo>
                <a:cubicBezTo>
                  <a:pt x="798" y="5484"/>
                  <a:pt x="885" y="5527"/>
                  <a:pt x="972" y="5571"/>
                </a:cubicBezTo>
                <a:cubicBezTo>
                  <a:pt x="1001" y="5585"/>
                  <a:pt x="1015" y="5614"/>
                  <a:pt x="1030" y="5629"/>
                </a:cubicBezTo>
                <a:cubicBezTo>
                  <a:pt x="1088" y="5672"/>
                  <a:pt x="1131" y="5730"/>
                  <a:pt x="1160" y="5803"/>
                </a:cubicBezTo>
                <a:cubicBezTo>
                  <a:pt x="1189" y="5904"/>
                  <a:pt x="1233" y="6006"/>
                  <a:pt x="1276" y="6107"/>
                </a:cubicBezTo>
                <a:cubicBezTo>
                  <a:pt x="1378" y="6310"/>
                  <a:pt x="1320" y="6527"/>
                  <a:pt x="1175" y="6672"/>
                </a:cubicBezTo>
                <a:lnTo>
                  <a:pt x="1117" y="6716"/>
                </a:lnTo>
                <a:cubicBezTo>
                  <a:pt x="1073" y="6745"/>
                  <a:pt x="1030" y="6788"/>
                  <a:pt x="1001" y="6846"/>
                </a:cubicBezTo>
                <a:cubicBezTo>
                  <a:pt x="972" y="6875"/>
                  <a:pt x="957" y="6919"/>
                  <a:pt x="943" y="6977"/>
                </a:cubicBezTo>
                <a:cubicBezTo>
                  <a:pt x="943" y="6991"/>
                  <a:pt x="943" y="7006"/>
                  <a:pt x="928" y="7020"/>
                </a:cubicBezTo>
                <a:lnTo>
                  <a:pt x="928" y="7064"/>
                </a:lnTo>
                <a:cubicBezTo>
                  <a:pt x="928" y="7078"/>
                  <a:pt x="928" y="7093"/>
                  <a:pt x="928" y="7107"/>
                </a:cubicBezTo>
                <a:lnTo>
                  <a:pt x="928" y="7122"/>
                </a:lnTo>
                <a:lnTo>
                  <a:pt x="928" y="7194"/>
                </a:lnTo>
                <a:cubicBezTo>
                  <a:pt x="943" y="7223"/>
                  <a:pt x="943" y="7238"/>
                  <a:pt x="957" y="7267"/>
                </a:cubicBezTo>
                <a:cubicBezTo>
                  <a:pt x="957" y="7267"/>
                  <a:pt x="957" y="7281"/>
                  <a:pt x="957" y="7281"/>
                </a:cubicBezTo>
                <a:cubicBezTo>
                  <a:pt x="972" y="7296"/>
                  <a:pt x="972" y="7325"/>
                  <a:pt x="986" y="7339"/>
                </a:cubicBezTo>
                <a:lnTo>
                  <a:pt x="986" y="7354"/>
                </a:lnTo>
                <a:cubicBezTo>
                  <a:pt x="1001" y="7368"/>
                  <a:pt x="1001" y="7383"/>
                  <a:pt x="1015" y="7397"/>
                </a:cubicBezTo>
                <a:cubicBezTo>
                  <a:pt x="1218" y="7658"/>
                  <a:pt x="1450" y="7890"/>
                  <a:pt x="1711" y="8093"/>
                </a:cubicBezTo>
                <a:cubicBezTo>
                  <a:pt x="1796" y="8166"/>
                  <a:pt x="1901" y="8198"/>
                  <a:pt x="2001" y="8198"/>
                </a:cubicBezTo>
                <a:cubicBezTo>
                  <a:pt x="2021" y="8198"/>
                  <a:pt x="2040" y="8197"/>
                  <a:pt x="2059" y="8194"/>
                </a:cubicBezTo>
                <a:cubicBezTo>
                  <a:pt x="2102" y="8194"/>
                  <a:pt x="2146" y="8180"/>
                  <a:pt x="2189" y="8165"/>
                </a:cubicBezTo>
                <a:cubicBezTo>
                  <a:pt x="2291" y="8136"/>
                  <a:pt x="2363" y="8078"/>
                  <a:pt x="2421" y="8006"/>
                </a:cubicBezTo>
                <a:lnTo>
                  <a:pt x="2465" y="7948"/>
                </a:lnTo>
                <a:cubicBezTo>
                  <a:pt x="2523" y="7905"/>
                  <a:pt x="2581" y="7861"/>
                  <a:pt x="2653" y="7832"/>
                </a:cubicBezTo>
                <a:lnTo>
                  <a:pt x="2827" y="7789"/>
                </a:lnTo>
                <a:cubicBezTo>
                  <a:pt x="2900" y="7803"/>
                  <a:pt x="2972" y="7818"/>
                  <a:pt x="3030" y="7847"/>
                </a:cubicBezTo>
                <a:cubicBezTo>
                  <a:pt x="3132" y="7890"/>
                  <a:pt x="3233" y="7933"/>
                  <a:pt x="3334" y="7962"/>
                </a:cubicBezTo>
                <a:cubicBezTo>
                  <a:pt x="3421" y="8006"/>
                  <a:pt x="3508" y="8064"/>
                  <a:pt x="3566" y="8151"/>
                </a:cubicBezTo>
                <a:cubicBezTo>
                  <a:pt x="3581" y="8180"/>
                  <a:pt x="3610" y="8209"/>
                  <a:pt x="3610" y="8252"/>
                </a:cubicBezTo>
                <a:cubicBezTo>
                  <a:pt x="3653" y="8325"/>
                  <a:pt x="3653" y="8412"/>
                  <a:pt x="3639" y="8499"/>
                </a:cubicBezTo>
                <a:cubicBezTo>
                  <a:pt x="3610" y="8760"/>
                  <a:pt x="3769" y="9006"/>
                  <a:pt x="4030" y="9064"/>
                </a:cubicBezTo>
                <a:lnTo>
                  <a:pt x="4074" y="9064"/>
                </a:lnTo>
                <a:cubicBezTo>
                  <a:pt x="4248" y="9079"/>
                  <a:pt x="4407" y="9093"/>
                  <a:pt x="4567" y="9093"/>
                </a:cubicBezTo>
                <a:cubicBezTo>
                  <a:pt x="4726" y="9093"/>
                  <a:pt x="4900" y="9079"/>
                  <a:pt x="5059" y="9064"/>
                </a:cubicBezTo>
                <a:cubicBezTo>
                  <a:pt x="5175" y="9050"/>
                  <a:pt x="5277" y="9006"/>
                  <a:pt x="5364" y="8919"/>
                </a:cubicBezTo>
                <a:cubicBezTo>
                  <a:pt x="5393" y="8876"/>
                  <a:pt x="5422" y="8847"/>
                  <a:pt x="5436" y="8803"/>
                </a:cubicBezTo>
                <a:cubicBezTo>
                  <a:pt x="5451" y="8789"/>
                  <a:pt x="5465" y="8774"/>
                  <a:pt x="5465" y="8745"/>
                </a:cubicBezTo>
                <a:cubicBezTo>
                  <a:pt x="5494" y="8673"/>
                  <a:pt x="5509" y="8586"/>
                  <a:pt x="5494" y="8499"/>
                </a:cubicBezTo>
                <a:cubicBezTo>
                  <a:pt x="5494" y="8470"/>
                  <a:pt x="5494" y="8441"/>
                  <a:pt x="5494" y="8426"/>
                </a:cubicBezTo>
                <a:cubicBezTo>
                  <a:pt x="5494" y="8209"/>
                  <a:pt x="5625" y="8020"/>
                  <a:pt x="5813" y="7948"/>
                </a:cubicBezTo>
                <a:cubicBezTo>
                  <a:pt x="5915" y="7919"/>
                  <a:pt x="6016" y="7876"/>
                  <a:pt x="6118" y="7832"/>
                </a:cubicBezTo>
                <a:cubicBezTo>
                  <a:pt x="6183" y="7796"/>
                  <a:pt x="6255" y="7778"/>
                  <a:pt x="6328" y="7778"/>
                </a:cubicBezTo>
                <a:cubicBezTo>
                  <a:pt x="6400" y="7778"/>
                  <a:pt x="6473" y="7796"/>
                  <a:pt x="6538" y="7832"/>
                </a:cubicBezTo>
                <a:cubicBezTo>
                  <a:pt x="6582" y="7847"/>
                  <a:pt x="6611" y="7876"/>
                  <a:pt x="6639" y="7890"/>
                </a:cubicBezTo>
                <a:cubicBezTo>
                  <a:pt x="6654" y="7905"/>
                  <a:pt x="6668" y="7919"/>
                  <a:pt x="6683" y="7933"/>
                </a:cubicBezTo>
                <a:cubicBezTo>
                  <a:pt x="6697" y="7948"/>
                  <a:pt x="6712" y="7962"/>
                  <a:pt x="6726" y="7977"/>
                </a:cubicBezTo>
                <a:cubicBezTo>
                  <a:pt x="6817" y="8113"/>
                  <a:pt x="6964" y="8181"/>
                  <a:pt x="7119" y="8181"/>
                </a:cubicBezTo>
                <a:cubicBezTo>
                  <a:pt x="7211" y="8181"/>
                  <a:pt x="7306" y="8156"/>
                  <a:pt x="7393" y="8107"/>
                </a:cubicBezTo>
                <a:lnTo>
                  <a:pt x="7437" y="8078"/>
                </a:lnTo>
                <a:cubicBezTo>
                  <a:pt x="7553" y="7977"/>
                  <a:pt x="7683" y="7861"/>
                  <a:pt x="7799" y="7745"/>
                </a:cubicBezTo>
                <a:cubicBezTo>
                  <a:pt x="7915" y="7629"/>
                  <a:pt x="8017" y="7513"/>
                  <a:pt x="8118" y="7383"/>
                </a:cubicBezTo>
                <a:cubicBezTo>
                  <a:pt x="8220" y="7252"/>
                  <a:pt x="8249" y="7093"/>
                  <a:pt x="8205" y="6933"/>
                </a:cubicBezTo>
                <a:cubicBezTo>
                  <a:pt x="8205" y="6904"/>
                  <a:pt x="8191" y="6890"/>
                  <a:pt x="8176" y="6861"/>
                </a:cubicBezTo>
                <a:cubicBezTo>
                  <a:pt x="8176" y="6846"/>
                  <a:pt x="8162" y="6817"/>
                  <a:pt x="8147" y="6803"/>
                </a:cubicBezTo>
                <a:cubicBezTo>
                  <a:pt x="8133" y="6774"/>
                  <a:pt x="8104" y="6745"/>
                  <a:pt x="8075" y="6716"/>
                </a:cubicBezTo>
                <a:lnTo>
                  <a:pt x="8031" y="6672"/>
                </a:lnTo>
                <a:cubicBezTo>
                  <a:pt x="8017" y="6658"/>
                  <a:pt x="8002" y="6658"/>
                  <a:pt x="7988" y="6643"/>
                </a:cubicBezTo>
                <a:cubicBezTo>
                  <a:pt x="7828" y="6498"/>
                  <a:pt x="7785" y="6266"/>
                  <a:pt x="7872" y="6078"/>
                </a:cubicBezTo>
                <a:cubicBezTo>
                  <a:pt x="7915" y="5977"/>
                  <a:pt x="7959" y="5875"/>
                  <a:pt x="8002" y="5774"/>
                </a:cubicBezTo>
                <a:cubicBezTo>
                  <a:pt x="8065" y="5571"/>
                  <a:pt x="8250" y="5446"/>
                  <a:pt x="8449" y="5446"/>
                </a:cubicBezTo>
                <a:cubicBezTo>
                  <a:pt x="8479" y="5446"/>
                  <a:pt x="8509" y="5449"/>
                  <a:pt x="8538" y="5455"/>
                </a:cubicBezTo>
                <a:cubicBezTo>
                  <a:pt x="8558" y="5457"/>
                  <a:pt x="8578" y="5458"/>
                  <a:pt x="8598" y="5458"/>
                </a:cubicBezTo>
                <a:cubicBezTo>
                  <a:pt x="8694" y="5458"/>
                  <a:pt x="8788" y="5430"/>
                  <a:pt x="8872" y="5382"/>
                </a:cubicBezTo>
                <a:cubicBezTo>
                  <a:pt x="8901" y="5368"/>
                  <a:pt x="8915" y="5353"/>
                  <a:pt x="8944" y="5339"/>
                </a:cubicBezTo>
                <a:lnTo>
                  <a:pt x="8973" y="5295"/>
                </a:lnTo>
                <a:cubicBezTo>
                  <a:pt x="8988" y="5295"/>
                  <a:pt x="8988" y="5281"/>
                  <a:pt x="9002" y="5266"/>
                </a:cubicBezTo>
                <a:cubicBezTo>
                  <a:pt x="9060" y="5194"/>
                  <a:pt x="9104" y="5107"/>
                  <a:pt x="9104" y="5020"/>
                </a:cubicBezTo>
                <a:cubicBezTo>
                  <a:pt x="9147" y="4686"/>
                  <a:pt x="9147" y="4368"/>
                  <a:pt x="9104" y="4034"/>
                </a:cubicBezTo>
                <a:lnTo>
                  <a:pt x="9104" y="4063"/>
                </a:lnTo>
                <a:cubicBezTo>
                  <a:pt x="9104" y="4020"/>
                  <a:pt x="9089" y="3962"/>
                  <a:pt x="9075" y="3918"/>
                </a:cubicBezTo>
                <a:cubicBezTo>
                  <a:pt x="9060" y="3889"/>
                  <a:pt x="9046" y="3875"/>
                  <a:pt x="9031" y="3846"/>
                </a:cubicBezTo>
                <a:cubicBezTo>
                  <a:pt x="9017" y="3817"/>
                  <a:pt x="9002" y="3802"/>
                  <a:pt x="8973" y="3773"/>
                </a:cubicBezTo>
                <a:lnTo>
                  <a:pt x="8944" y="3744"/>
                </a:lnTo>
                <a:cubicBezTo>
                  <a:pt x="8930" y="3730"/>
                  <a:pt x="8915" y="3730"/>
                  <a:pt x="8915" y="3715"/>
                </a:cubicBezTo>
                <a:lnTo>
                  <a:pt x="8857" y="3686"/>
                </a:lnTo>
                <a:cubicBezTo>
                  <a:pt x="8828" y="3657"/>
                  <a:pt x="8785" y="3643"/>
                  <a:pt x="8741" y="3643"/>
                </a:cubicBezTo>
                <a:lnTo>
                  <a:pt x="8712" y="3628"/>
                </a:lnTo>
                <a:cubicBezTo>
                  <a:pt x="8683" y="3621"/>
                  <a:pt x="8654" y="3617"/>
                  <a:pt x="8625" y="3617"/>
                </a:cubicBezTo>
                <a:cubicBezTo>
                  <a:pt x="8596" y="3617"/>
                  <a:pt x="8567" y="3621"/>
                  <a:pt x="8538" y="3628"/>
                </a:cubicBezTo>
                <a:lnTo>
                  <a:pt x="8422" y="3628"/>
                </a:lnTo>
                <a:cubicBezTo>
                  <a:pt x="8335" y="3614"/>
                  <a:pt x="8249" y="3585"/>
                  <a:pt x="8176" y="3541"/>
                </a:cubicBezTo>
                <a:lnTo>
                  <a:pt x="8133" y="3512"/>
                </a:lnTo>
                <a:cubicBezTo>
                  <a:pt x="8118" y="3498"/>
                  <a:pt x="8104" y="3483"/>
                  <a:pt x="8104" y="3469"/>
                </a:cubicBezTo>
                <a:cubicBezTo>
                  <a:pt x="8075" y="3454"/>
                  <a:pt x="8060" y="3425"/>
                  <a:pt x="8046" y="3411"/>
                </a:cubicBezTo>
                <a:lnTo>
                  <a:pt x="8017" y="3353"/>
                </a:lnTo>
                <a:cubicBezTo>
                  <a:pt x="8002" y="3338"/>
                  <a:pt x="8002" y="3324"/>
                  <a:pt x="8002" y="3309"/>
                </a:cubicBezTo>
                <a:cubicBezTo>
                  <a:pt x="8002" y="3295"/>
                  <a:pt x="7988" y="3295"/>
                  <a:pt x="7988" y="3280"/>
                </a:cubicBezTo>
                <a:cubicBezTo>
                  <a:pt x="7959" y="3179"/>
                  <a:pt x="7915" y="3092"/>
                  <a:pt x="7872" y="3005"/>
                </a:cubicBezTo>
                <a:cubicBezTo>
                  <a:pt x="7872" y="2990"/>
                  <a:pt x="7857" y="2976"/>
                  <a:pt x="7857" y="2961"/>
                </a:cubicBezTo>
                <a:cubicBezTo>
                  <a:pt x="7828" y="2889"/>
                  <a:pt x="7828" y="2817"/>
                  <a:pt x="7828" y="2744"/>
                </a:cubicBezTo>
                <a:cubicBezTo>
                  <a:pt x="7843" y="2701"/>
                  <a:pt x="7857" y="2643"/>
                  <a:pt x="7886" y="2585"/>
                </a:cubicBezTo>
                <a:cubicBezTo>
                  <a:pt x="7901" y="2527"/>
                  <a:pt x="7930" y="2469"/>
                  <a:pt x="7973" y="2425"/>
                </a:cubicBezTo>
                <a:cubicBezTo>
                  <a:pt x="7988" y="2411"/>
                  <a:pt x="8002" y="2396"/>
                  <a:pt x="8017" y="2396"/>
                </a:cubicBezTo>
                <a:lnTo>
                  <a:pt x="8031" y="2396"/>
                </a:lnTo>
                <a:lnTo>
                  <a:pt x="8075" y="2353"/>
                </a:lnTo>
                <a:cubicBezTo>
                  <a:pt x="8118" y="2324"/>
                  <a:pt x="8147" y="2280"/>
                  <a:pt x="8176" y="2237"/>
                </a:cubicBezTo>
                <a:cubicBezTo>
                  <a:pt x="8176" y="2208"/>
                  <a:pt x="8191" y="2193"/>
                  <a:pt x="8205" y="2164"/>
                </a:cubicBezTo>
                <a:cubicBezTo>
                  <a:pt x="8205" y="2150"/>
                  <a:pt x="8220" y="2121"/>
                  <a:pt x="8220" y="2092"/>
                </a:cubicBezTo>
                <a:cubicBezTo>
                  <a:pt x="8249" y="1947"/>
                  <a:pt x="8220" y="1802"/>
                  <a:pt x="8133" y="1686"/>
                </a:cubicBezTo>
                <a:cubicBezTo>
                  <a:pt x="8017" y="1555"/>
                  <a:pt x="7915" y="1439"/>
                  <a:pt x="7799" y="1323"/>
                </a:cubicBezTo>
                <a:cubicBezTo>
                  <a:pt x="7683" y="1207"/>
                  <a:pt x="7567" y="1092"/>
                  <a:pt x="7437" y="990"/>
                </a:cubicBezTo>
                <a:cubicBezTo>
                  <a:pt x="7352" y="926"/>
                  <a:pt x="7244" y="886"/>
                  <a:pt x="7135" y="886"/>
                </a:cubicBezTo>
                <a:cubicBezTo>
                  <a:pt x="7095" y="886"/>
                  <a:pt x="7055" y="891"/>
                  <a:pt x="7016" y="903"/>
                </a:cubicBezTo>
                <a:lnTo>
                  <a:pt x="6958" y="918"/>
                </a:lnTo>
                <a:cubicBezTo>
                  <a:pt x="6886" y="947"/>
                  <a:pt x="6828" y="990"/>
                  <a:pt x="6770" y="1048"/>
                </a:cubicBezTo>
                <a:cubicBezTo>
                  <a:pt x="6755" y="1063"/>
                  <a:pt x="6741" y="1077"/>
                  <a:pt x="6726" y="1092"/>
                </a:cubicBezTo>
                <a:cubicBezTo>
                  <a:pt x="6668" y="1178"/>
                  <a:pt x="6596" y="1236"/>
                  <a:pt x="6509" y="1265"/>
                </a:cubicBezTo>
                <a:cubicBezTo>
                  <a:pt x="6466" y="1280"/>
                  <a:pt x="6437" y="1294"/>
                  <a:pt x="6408" y="1294"/>
                </a:cubicBezTo>
                <a:lnTo>
                  <a:pt x="6263" y="1294"/>
                </a:lnTo>
                <a:cubicBezTo>
                  <a:pt x="6234" y="1294"/>
                  <a:pt x="6205" y="1280"/>
                  <a:pt x="6190" y="1280"/>
                </a:cubicBezTo>
                <a:lnTo>
                  <a:pt x="6132" y="1251"/>
                </a:lnTo>
                <a:lnTo>
                  <a:pt x="6074" y="1222"/>
                </a:lnTo>
                <a:cubicBezTo>
                  <a:pt x="6045" y="1207"/>
                  <a:pt x="6016" y="1193"/>
                  <a:pt x="5987" y="1193"/>
                </a:cubicBezTo>
                <a:cubicBezTo>
                  <a:pt x="5944" y="1178"/>
                  <a:pt x="5871" y="1149"/>
                  <a:pt x="5828" y="1121"/>
                </a:cubicBezTo>
                <a:cubicBezTo>
                  <a:pt x="5625" y="1048"/>
                  <a:pt x="5494" y="845"/>
                  <a:pt x="5509" y="628"/>
                </a:cubicBezTo>
                <a:lnTo>
                  <a:pt x="5509" y="599"/>
                </a:lnTo>
                <a:cubicBezTo>
                  <a:pt x="5552" y="338"/>
                  <a:pt x="5378" y="106"/>
                  <a:pt x="5132" y="48"/>
                </a:cubicBezTo>
                <a:cubicBezTo>
                  <a:pt x="5117" y="33"/>
                  <a:pt x="5103" y="33"/>
                  <a:pt x="5088" y="33"/>
                </a:cubicBezTo>
                <a:cubicBezTo>
                  <a:pt x="4922" y="12"/>
                  <a:pt x="4755" y="1"/>
                  <a:pt x="4588" y="1"/>
                </a:cubicBezTo>
                <a:close/>
              </a:path>
            </a:pathLst>
          </a:custGeom>
          <a:solidFill>
            <a:schemeClr val="accent3"/>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81" name="Google Shape;81;p1"/>
          <p:cNvSpPr/>
          <p:nvPr/>
        </p:nvSpPr>
        <p:spPr>
          <a:xfrm>
            <a:off x="5652169" y="1753195"/>
            <a:ext cx="3150409" cy="2675439"/>
          </a:xfrm>
          <a:custGeom>
            <a:rect b="b" l="l" r="r" t="t"/>
            <a:pathLst>
              <a:path extrusionOk="0" h="35317" w="42729">
                <a:moveTo>
                  <a:pt x="19690" y="1"/>
                </a:moveTo>
                <a:cubicBezTo>
                  <a:pt x="18145" y="1"/>
                  <a:pt x="16885" y="1260"/>
                  <a:pt x="16885" y="2834"/>
                </a:cubicBezTo>
                <a:lnTo>
                  <a:pt x="16885" y="6898"/>
                </a:lnTo>
                <a:cubicBezTo>
                  <a:pt x="16885" y="7356"/>
                  <a:pt x="16513" y="7728"/>
                  <a:pt x="16084" y="7728"/>
                </a:cubicBezTo>
                <a:cubicBezTo>
                  <a:pt x="15626" y="7728"/>
                  <a:pt x="15283" y="7356"/>
                  <a:pt x="15283" y="6898"/>
                </a:cubicBezTo>
                <a:lnTo>
                  <a:pt x="15283" y="6383"/>
                </a:lnTo>
                <a:cubicBezTo>
                  <a:pt x="15283" y="4837"/>
                  <a:pt x="14024" y="3607"/>
                  <a:pt x="12507" y="3607"/>
                </a:cubicBezTo>
                <a:cubicBezTo>
                  <a:pt x="10961" y="3607"/>
                  <a:pt x="9702" y="4837"/>
                  <a:pt x="9702" y="6383"/>
                </a:cubicBezTo>
                <a:lnTo>
                  <a:pt x="9702" y="16800"/>
                </a:lnTo>
                <a:cubicBezTo>
                  <a:pt x="9702" y="17201"/>
                  <a:pt x="9387" y="17515"/>
                  <a:pt x="8987" y="17515"/>
                </a:cubicBezTo>
                <a:cubicBezTo>
                  <a:pt x="8615" y="17515"/>
                  <a:pt x="8271" y="17201"/>
                  <a:pt x="8271" y="16800"/>
                </a:cubicBezTo>
                <a:lnTo>
                  <a:pt x="8271" y="16113"/>
                </a:lnTo>
                <a:cubicBezTo>
                  <a:pt x="8271" y="15026"/>
                  <a:pt x="7413" y="14138"/>
                  <a:pt x="6325" y="14138"/>
                </a:cubicBezTo>
                <a:cubicBezTo>
                  <a:pt x="5237" y="14138"/>
                  <a:pt x="4350" y="15026"/>
                  <a:pt x="4379" y="16113"/>
                </a:cubicBezTo>
                <a:lnTo>
                  <a:pt x="4379" y="22467"/>
                </a:lnTo>
                <a:cubicBezTo>
                  <a:pt x="4379" y="22839"/>
                  <a:pt x="4035" y="23182"/>
                  <a:pt x="3663" y="23182"/>
                </a:cubicBezTo>
                <a:cubicBezTo>
                  <a:pt x="3263" y="23182"/>
                  <a:pt x="2948" y="22839"/>
                  <a:pt x="2948" y="22467"/>
                </a:cubicBezTo>
                <a:cubicBezTo>
                  <a:pt x="2948" y="21637"/>
                  <a:pt x="2261" y="20978"/>
                  <a:pt x="1460" y="20978"/>
                </a:cubicBezTo>
                <a:cubicBezTo>
                  <a:pt x="658" y="20978"/>
                  <a:pt x="0" y="21637"/>
                  <a:pt x="0" y="22467"/>
                </a:cubicBezTo>
                <a:lnTo>
                  <a:pt x="0" y="35317"/>
                </a:lnTo>
                <a:lnTo>
                  <a:pt x="42729" y="35317"/>
                </a:lnTo>
                <a:lnTo>
                  <a:pt x="42729" y="22839"/>
                </a:lnTo>
                <a:cubicBezTo>
                  <a:pt x="42729" y="21808"/>
                  <a:pt x="41899" y="20978"/>
                  <a:pt x="40897" y="20978"/>
                </a:cubicBezTo>
                <a:cubicBezTo>
                  <a:pt x="39867" y="20978"/>
                  <a:pt x="39037" y="21808"/>
                  <a:pt x="39037" y="22839"/>
                </a:cubicBezTo>
                <a:lnTo>
                  <a:pt x="39037" y="23497"/>
                </a:lnTo>
                <a:cubicBezTo>
                  <a:pt x="39037" y="23955"/>
                  <a:pt x="38665" y="24298"/>
                  <a:pt x="38235" y="24298"/>
                </a:cubicBezTo>
                <a:cubicBezTo>
                  <a:pt x="37806" y="24298"/>
                  <a:pt x="37434" y="23955"/>
                  <a:pt x="37434" y="23497"/>
                </a:cubicBezTo>
                <a:lnTo>
                  <a:pt x="37434" y="10990"/>
                </a:lnTo>
                <a:cubicBezTo>
                  <a:pt x="37434" y="9702"/>
                  <a:pt x="36375" y="8644"/>
                  <a:pt x="35087" y="8644"/>
                </a:cubicBezTo>
                <a:cubicBezTo>
                  <a:pt x="33799" y="8644"/>
                  <a:pt x="32741" y="9702"/>
                  <a:pt x="32741" y="10990"/>
                </a:cubicBezTo>
                <a:lnTo>
                  <a:pt x="32741" y="11763"/>
                </a:lnTo>
                <a:cubicBezTo>
                  <a:pt x="32741" y="12479"/>
                  <a:pt x="32168" y="13022"/>
                  <a:pt x="31481" y="13022"/>
                </a:cubicBezTo>
                <a:cubicBezTo>
                  <a:pt x="30766" y="13022"/>
                  <a:pt x="30222" y="12479"/>
                  <a:pt x="30222" y="11763"/>
                </a:cubicBezTo>
                <a:lnTo>
                  <a:pt x="30222" y="5324"/>
                </a:lnTo>
                <a:cubicBezTo>
                  <a:pt x="30222" y="3807"/>
                  <a:pt x="28963" y="2548"/>
                  <a:pt x="27446" y="2548"/>
                </a:cubicBezTo>
                <a:cubicBezTo>
                  <a:pt x="25901" y="2548"/>
                  <a:pt x="24641" y="3807"/>
                  <a:pt x="24641" y="5324"/>
                </a:cubicBezTo>
                <a:lnTo>
                  <a:pt x="24641" y="5696"/>
                </a:lnTo>
                <a:cubicBezTo>
                  <a:pt x="24641" y="6268"/>
                  <a:pt x="24155" y="6755"/>
                  <a:pt x="23582" y="6755"/>
                </a:cubicBezTo>
                <a:cubicBezTo>
                  <a:pt x="22981" y="6755"/>
                  <a:pt x="22495" y="6268"/>
                  <a:pt x="22495" y="5696"/>
                </a:cubicBezTo>
                <a:lnTo>
                  <a:pt x="22495" y="2834"/>
                </a:lnTo>
                <a:cubicBezTo>
                  <a:pt x="22495" y="1260"/>
                  <a:pt x="21236" y="1"/>
                  <a:pt x="19690" y="1"/>
                </a:cubicBezTo>
                <a:close/>
              </a:path>
            </a:pathLst>
          </a:custGeom>
          <a:solidFill>
            <a:schemeClr val="accen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82" name="Google Shape;82;p1"/>
          <p:cNvSpPr/>
          <p:nvPr/>
        </p:nvSpPr>
        <p:spPr>
          <a:xfrm>
            <a:off x="5060992" y="4554953"/>
            <a:ext cx="3797195" cy="82062"/>
          </a:xfrm>
          <a:custGeom>
            <a:rect b="b" l="l" r="r" t="t"/>
            <a:pathLst>
              <a:path extrusionOk="0" h="974" w="44847">
                <a:moveTo>
                  <a:pt x="659" y="1"/>
                </a:moveTo>
                <a:cubicBezTo>
                  <a:pt x="1" y="1"/>
                  <a:pt x="1" y="974"/>
                  <a:pt x="659" y="974"/>
                </a:cubicBezTo>
                <a:lnTo>
                  <a:pt x="44360" y="974"/>
                </a:lnTo>
                <a:cubicBezTo>
                  <a:pt x="44618" y="974"/>
                  <a:pt x="44847" y="745"/>
                  <a:pt x="44847" y="487"/>
                </a:cubicBezTo>
                <a:cubicBezTo>
                  <a:pt x="44847" y="201"/>
                  <a:pt x="44618" y="1"/>
                  <a:pt x="44360" y="1"/>
                </a:cubicBezTo>
                <a:close/>
              </a:path>
            </a:pathLst>
          </a:custGeom>
          <a:solidFill>
            <a:schemeClr val="accent5"/>
          </a:solidFill>
          <a:ln>
            <a:noFill/>
          </a:ln>
        </p:spPr>
        <p:txBody>
          <a:bodyPr anchorCtr="0" anchor="ctr" bIns="41200" lIns="85050" spcFirstLastPara="1" rIns="85050" wrap="square" tIns="4120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83" name="Google Shape;83;p1"/>
          <p:cNvSpPr/>
          <p:nvPr/>
        </p:nvSpPr>
        <p:spPr>
          <a:xfrm>
            <a:off x="5060992" y="4554953"/>
            <a:ext cx="1659955" cy="84738"/>
          </a:xfrm>
          <a:custGeom>
            <a:rect b="b" l="l" r="r" t="t"/>
            <a:pathLst>
              <a:path extrusionOk="0" h="1003" w="19605">
                <a:moveTo>
                  <a:pt x="659" y="1"/>
                </a:moveTo>
                <a:cubicBezTo>
                  <a:pt x="1" y="1"/>
                  <a:pt x="1" y="1003"/>
                  <a:pt x="659" y="1003"/>
                </a:cubicBezTo>
                <a:lnTo>
                  <a:pt x="19605" y="1003"/>
                </a:lnTo>
                <a:lnTo>
                  <a:pt x="19605" y="1"/>
                </a:lnTo>
                <a:close/>
              </a:path>
            </a:pathLst>
          </a:custGeom>
          <a:solidFill>
            <a:schemeClr val="lt2"/>
          </a:solidFill>
          <a:ln>
            <a:noFill/>
          </a:ln>
        </p:spPr>
        <p:txBody>
          <a:bodyPr anchorCtr="0" anchor="ctr" bIns="42525" lIns="85050" spcFirstLastPara="1" rIns="85050" wrap="square" tIns="4252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84" name="Google Shape;84;p1"/>
          <p:cNvSpPr/>
          <p:nvPr/>
        </p:nvSpPr>
        <p:spPr>
          <a:xfrm>
            <a:off x="6629177" y="4512751"/>
            <a:ext cx="181540" cy="165123"/>
          </a:xfrm>
          <a:custGeom>
            <a:rect b="b" l="l" r="r" t="t"/>
            <a:pathLst>
              <a:path extrusionOk="0" h="1954" w="2147">
                <a:moveTo>
                  <a:pt x="1073" y="0"/>
                </a:moveTo>
                <a:cubicBezTo>
                  <a:pt x="823" y="0"/>
                  <a:pt x="573" y="100"/>
                  <a:pt x="372" y="301"/>
                </a:cubicBezTo>
                <a:cubicBezTo>
                  <a:pt x="0" y="673"/>
                  <a:pt x="0" y="1302"/>
                  <a:pt x="372" y="1674"/>
                </a:cubicBezTo>
                <a:cubicBezTo>
                  <a:pt x="573" y="1860"/>
                  <a:pt x="823" y="1953"/>
                  <a:pt x="1073" y="1953"/>
                </a:cubicBezTo>
                <a:cubicBezTo>
                  <a:pt x="1324" y="1953"/>
                  <a:pt x="1574" y="1860"/>
                  <a:pt x="1775" y="1674"/>
                </a:cubicBezTo>
                <a:cubicBezTo>
                  <a:pt x="2147" y="1302"/>
                  <a:pt x="2147" y="673"/>
                  <a:pt x="1775" y="301"/>
                </a:cubicBezTo>
                <a:cubicBezTo>
                  <a:pt x="1574" y="100"/>
                  <a:pt x="1324" y="0"/>
                  <a:pt x="1073" y="0"/>
                </a:cubicBezTo>
                <a:close/>
              </a:path>
            </a:pathLst>
          </a:custGeom>
          <a:solidFill>
            <a:schemeClr val="accent6"/>
          </a:solidFill>
          <a:ln>
            <a:noFill/>
          </a:ln>
        </p:spPr>
        <p:txBody>
          <a:bodyPr anchorCtr="0" anchor="ctr" bIns="82700" lIns="85050" spcFirstLastPara="1" rIns="85050" wrap="square" tIns="8270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85" name="Google Shape;85;p1"/>
          <p:cNvSpPr/>
          <p:nvPr/>
        </p:nvSpPr>
        <p:spPr>
          <a:xfrm>
            <a:off x="7901610" y="2609964"/>
            <a:ext cx="1284132" cy="1818720"/>
          </a:xfrm>
          <a:custGeom>
            <a:rect b="b" l="l" r="r" t="t"/>
            <a:pathLst>
              <a:path extrusionOk="0" h="21482" w="15169">
                <a:moveTo>
                  <a:pt x="5892" y="0"/>
                </a:moveTo>
                <a:cubicBezTo>
                  <a:pt x="1137" y="0"/>
                  <a:pt x="0" y="21482"/>
                  <a:pt x="0" y="21482"/>
                </a:cubicBezTo>
                <a:lnTo>
                  <a:pt x="8701" y="21482"/>
                </a:lnTo>
                <a:cubicBezTo>
                  <a:pt x="8701" y="21482"/>
                  <a:pt x="15168" y="2364"/>
                  <a:pt x="12020" y="1706"/>
                </a:cubicBezTo>
                <a:cubicBezTo>
                  <a:pt x="11914" y="1683"/>
                  <a:pt x="11808" y="1672"/>
                  <a:pt x="11704" y="1672"/>
                </a:cubicBezTo>
                <a:cubicBezTo>
                  <a:pt x="8733" y="1672"/>
                  <a:pt x="6560" y="10641"/>
                  <a:pt x="6443" y="10641"/>
                </a:cubicBezTo>
                <a:cubicBezTo>
                  <a:pt x="6442" y="10641"/>
                  <a:pt x="6440" y="10639"/>
                  <a:pt x="6440" y="10635"/>
                </a:cubicBezTo>
                <a:cubicBezTo>
                  <a:pt x="6382" y="10320"/>
                  <a:pt x="9216" y="447"/>
                  <a:pt x="6125" y="17"/>
                </a:cubicBezTo>
                <a:cubicBezTo>
                  <a:pt x="6046" y="6"/>
                  <a:pt x="5969" y="0"/>
                  <a:pt x="5892" y="0"/>
                </a:cubicBezTo>
                <a:close/>
              </a:path>
            </a:pathLst>
          </a:custGeom>
          <a:solidFill>
            <a:schemeClr val="accent3"/>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86" name="Google Shape;86;p1"/>
          <p:cNvSpPr/>
          <p:nvPr/>
        </p:nvSpPr>
        <p:spPr>
          <a:xfrm>
            <a:off x="5771063" y="2320577"/>
            <a:ext cx="2568643" cy="1666991"/>
          </a:xfrm>
          <a:custGeom>
            <a:rect b="b" l="l" r="r" t="t"/>
            <a:pathLst>
              <a:path extrusionOk="0" h="19691" w="30338">
                <a:moveTo>
                  <a:pt x="3292" y="1"/>
                </a:moveTo>
                <a:cubicBezTo>
                  <a:pt x="1461" y="1"/>
                  <a:pt x="1" y="1461"/>
                  <a:pt x="1" y="3264"/>
                </a:cubicBezTo>
                <a:lnTo>
                  <a:pt x="1" y="16400"/>
                </a:lnTo>
                <a:cubicBezTo>
                  <a:pt x="1" y="18203"/>
                  <a:pt x="1461" y="19691"/>
                  <a:pt x="3292" y="19691"/>
                </a:cubicBezTo>
                <a:lnTo>
                  <a:pt x="27075" y="19691"/>
                </a:lnTo>
                <a:cubicBezTo>
                  <a:pt x="28878" y="19691"/>
                  <a:pt x="30337" y="18203"/>
                  <a:pt x="30337" y="16400"/>
                </a:cubicBezTo>
                <a:lnTo>
                  <a:pt x="30337" y="3264"/>
                </a:lnTo>
                <a:cubicBezTo>
                  <a:pt x="30337" y="1461"/>
                  <a:pt x="28878" y="1"/>
                  <a:pt x="27075" y="1"/>
                </a:cubicBezTo>
                <a:close/>
              </a:path>
            </a:pathLst>
          </a:custGeom>
          <a:solidFill>
            <a:schemeClr val="lt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87" name="Google Shape;87;p1"/>
          <p:cNvSpPr/>
          <p:nvPr/>
        </p:nvSpPr>
        <p:spPr>
          <a:xfrm>
            <a:off x="5882597" y="2417709"/>
            <a:ext cx="2347945" cy="1342448"/>
          </a:xfrm>
          <a:custGeom>
            <a:rect b="b" l="l" r="r" t="t"/>
            <a:pathLst>
              <a:path extrusionOk="0" h="15856" w="27733">
                <a:moveTo>
                  <a:pt x="0" y="1"/>
                </a:moveTo>
                <a:lnTo>
                  <a:pt x="0" y="15856"/>
                </a:lnTo>
                <a:lnTo>
                  <a:pt x="27732" y="15856"/>
                </a:lnTo>
                <a:lnTo>
                  <a:pt x="27732" y="1"/>
                </a:lnTo>
                <a:close/>
              </a:path>
            </a:pathLst>
          </a:custGeom>
          <a:solidFill>
            <a:schemeClr val="accent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88" name="Google Shape;88;p1"/>
          <p:cNvSpPr/>
          <p:nvPr/>
        </p:nvSpPr>
        <p:spPr>
          <a:xfrm>
            <a:off x="6587979" y="3987902"/>
            <a:ext cx="935130" cy="271304"/>
          </a:xfrm>
          <a:custGeom>
            <a:rect b="b" l="l" r="r" t="t"/>
            <a:pathLst>
              <a:path extrusionOk="0" h="3207" w="11048">
                <a:moveTo>
                  <a:pt x="1" y="1"/>
                </a:moveTo>
                <a:lnTo>
                  <a:pt x="1" y="3206"/>
                </a:lnTo>
                <a:lnTo>
                  <a:pt x="11048" y="3206"/>
                </a:lnTo>
                <a:lnTo>
                  <a:pt x="11048" y="1"/>
                </a:lnTo>
                <a:close/>
              </a:path>
            </a:pathLst>
          </a:custGeom>
          <a:solidFill>
            <a:srgbClr val="E3E9F7"/>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89" name="Google Shape;89;p1"/>
          <p:cNvSpPr/>
          <p:nvPr/>
        </p:nvSpPr>
        <p:spPr>
          <a:xfrm>
            <a:off x="6321368" y="4240111"/>
            <a:ext cx="1468386" cy="188906"/>
          </a:xfrm>
          <a:custGeom>
            <a:rect b="b" l="l" r="r" t="t"/>
            <a:pathLst>
              <a:path extrusionOk="0" h="2233" w="17344">
                <a:moveTo>
                  <a:pt x="2261" y="0"/>
                </a:moveTo>
                <a:cubicBezTo>
                  <a:pt x="1031" y="0"/>
                  <a:pt x="1" y="1002"/>
                  <a:pt x="29" y="2233"/>
                </a:cubicBezTo>
                <a:lnTo>
                  <a:pt x="17344" y="2233"/>
                </a:lnTo>
                <a:cubicBezTo>
                  <a:pt x="17344" y="1002"/>
                  <a:pt x="16342" y="0"/>
                  <a:pt x="15111" y="0"/>
                </a:cubicBezTo>
                <a:close/>
              </a:path>
            </a:pathLst>
          </a:custGeom>
          <a:solidFill>
            <a:srgbClr val="FFFFFF"/>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90" name="Google Shape;90;p1"/>
          <p:cNvSpPr/>
          <p:nvPr/>
        </p:nvSpPr>
        <p:spPr>
          <a:xfrm>
            <a:off x="6418165" y="3936991"/>
            <a:ext cx="1286473" cy="99141"/>
          </a:xfrm>
          <a:custGeom>
            <a:rect b="b" l="l" r="r" t="t"/>
            <a:pathLst>
              <a:path extrusionOk="0" h="1175" w="15198">
                <a:moveTo>
                  <a:pt x="716" y="1"/>
                </a:moveTo>
                <a:cubicBezTo>
                  <a:pt x="0" y="58"/>
                  <a:pt x="0" y="1117"/>
                  <a:pt x="716" y="1174"/>
                </a:cubicBezTo>
                <a:lnTo>
                  <a:pt x="14482" y="1174"/>
                </a:lnTo>
                <a:cubicBezTo>
                  <a:pt x="15197" y="1117"/>
                  <a:pt x="15197" y="58"/>
                  <a:pt x="14482" y="1"/>
                </a:cubicBezTo>
                <a:close/>
              </a:path>
            </a:pathLst>
          </a:custGeom>
          <a:solidFill>
            <a:schemeClr val="dk1"/>
          </a:solidFill>
          <a:ln>
            <a:noFill/>
          </a:ln>
        </p:spPr>
        <p:txBody>
          <a:bodyPr anchorCtr="0" anchor="ctr" bIns="49575" lIns="85050" spcFirstLastPara="1" rIns="85050" wrap="square" tIns="4957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91" name="Google Shape;91;p1"/>
          <p:cNvSpPr/>
          <p:nvPr/>
        </p:nvSpPr>
        <p:spPr>
          <a:xfrm>
            <a:off x="5538615" y="4092068"/>
            <a:ext cx="617641" cy="336613"/>
          </a:xfrm>
          <a:custGeom>
            <a:rect b="b" l="l" r="r" t="t"/>
            <a:pathLst>
              <a:path extrusionOk="0" h="3979" w="7299">
                <a:moveTo>
                  <a:pt x="1031" y="1"/>
                </a:moveTo>
                <a:cubicBezTo>
                  <a:pt x="487" y="1"/>
                  <a:pt x="1" y="458"/>
                  <a:pt x="1" y="1031"/>
                </a:cubicBezTo>
                <a:cubicBezTo>
                  <a:pt x="1" y="2662"/>
                  <a:pt x="1346" y="3979"/>
                  <a:pt x="2977" y="3979"/>
                </a:cubicBezTo>
                <a:lnTo>
                  <a:pt x="4322" y="3979"/>
                </a:lnTo>
                <a:cubicBezTo>
                  <a:pt x="5982" y="3979"/>
                  <a:pt x="7298" y="2662"/>
                  <a:pt x="7298" y="1031"/>
                </a:cubicBezTo>
                <a:cubicBezTo>
                  <a:pt x="7298" y="458"/>
                  <a:pt x="6841" y="1"/>
                  <a:pt x="6268" y="1"/>
                </a:cubicBezTo>
                <a:close/>
              </a:path>
            </a:pathLst>
          </a:custGeom>
          <a:solidFill>
            <a:schemeClr val="lt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92" name="Google Shape;92;p1"/>
          <p:cNvSpPr/>
          <p:nvPr/>
        </p:nvSpPr>
        <p:spPr>
          <a:xfrm>
            <a:off x="5477991" y="3587985"/>
            <a:ext cx="746234" cy="504071"/>
          </a:xfrm>
          <a:custGeom>
            <a:rect b="b" l="l" r="r" t="t"/>
            <a:pathLst>
              <a:path extrusionOk="0" h="5956" w="8815">
                <a:moveTo>
                  <a:pt x="4624" y="1"/>
                </a:moveTo>
                <a:cubicBezTo>
                  <a:pt x="4609" y="1"/>
                  <a:pt x="4594" y="2"/>
                  <a:pt x="4579" y="3"/>
                </a:cubicBezTo>
                <a:cubicBezTo>
                  <a:pt x="3492" y="60"/>
                  <a:pt x="3492" y="2951"/>
                  <a:pt x="3492" y="2951"/>
                </a:cubicBezTo>
                <a:cubicBezTo>
                  <a:pt x="3492" y="2951"/>
                  <a:pt x="2695" y="1756"/>
                  <a:pt x="2081" y="1756"/>
                </a:cubicBezTo>
                <a:cubicBezTo>
                  <a:pt x="1923" y="1756"/>
                  <a:pt x="1777" y="1835"/>
                  <a:pt x="1660" y="2035"/>
                </a:cubicBezTo>
                <a:cubicBezTo>
                  <a:pt x="1240" y="2714"/>
                  <a:pt x="1630" y="3394"/>
                  <a:pt x="1904" y="3742"/>
                </a:cubicBezTo>
                <a:lnTo>
                  <a:pt x="1904" y="3742"/>
                </a:lnTo>
                <a:cubicBezTo>
                  <a:pt x="1716" y="3560"/>
                  <a:pt x="1428" y="3341"/>
                  <a:pt x="1125" y="3341"/>
                </a:cubicBezTo>
                <a:cubicBezTo>
                  <a:pt x="959" y="3341"/>
                  <a:pt x="789" y="3407"/>
                  <a:pt x="630" y="3580"/>
                </a:cubicBezTo>
                <a:cubicBezTo>
                  <a:pt x="0" y="4296"/>
                  <a:pt x="2375" y="5927"/>
                  <a:pt x="2375" y="5927"/>
                </a:cubicBezTo>
                <a:lnTo>
                  <a:pt x="5924" y="5956"/>
                </a:lnTo>
                <a:cubicBezTo>
                  <a:pt x="5924" y="5956"/>
                  <a:pt x="8815" y="3552"/>
                  <a:pt x="8099" y="3094"/>
                </a:cubicBezTo>
                <a:cubicBezTo>
                  <a:pt x="7981" y="3013"/>
                  <a:pt x="7858" y="2980"/>
                  <a:pt x="7734" y="2980"/>
                </a:cubicBezTo>
                <a:cubicBezTo>
                  <a:pt x="7106" y="2980"/>
                  <a:pt x="6468" y="3838"/>
                  <a:pt x="6468" y="3838"/>
                </a:cubicBezTo>
                <a:cubicBezTo>
                  <a:pt x="6468" y="3838"/>
                  <a:pt x="8357" y="1262"/>
                  <a:pt x="7241" y="1062"/>
                </a:cubicBezTo>
                <a:cubicBezTo>
                  <a:pt x="7183" y="1050"/>
                  <a:pt x="7125" y="1044"/>
                  <a:pt x="7069" y="1044"/>
                </a:cubicBezTo>
                <a:cubicBezTo>
                  <a:pt x="6038" y="1044"/>
                  <a:pt x="5266" y="2922"/>
                  <a:pt x="5266" y="2922"/>
                </a:cubicBezTo>
                <a:cubicBezTo>
                  <a:pt x="5266" y="2922"/>
                  <a:pt x="5655" y="1"/>
                  <a:pt x="4624" y="1"/>
                </a:cubicBezTo>
                <a:close/>
              </a:path>
            </a:pathLst>
          </a:custGeom>
          <a:solidFill>
            <a:schemeClr val="accent3"/>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93" name="Google Shape;93;p1"/>
          <p:cNvSpPr/>
          <p:nvPr/>
        </p:nvSpPr>
        <p:spPr>
          <a:xfrm>
            <a:off x="4990990" y="4403896"/>
            <a:ext cx="3923501" cy="51581"/>
          </a:xfrm>
          <a:custGeom>
            <a:rect b="b" l="l" r="r" t="t"/>
            <a:pathLst>
              <a:path extrusionOk="0" h="612" w="46336">
                <a:moveTo>
                  <a:pt x="1060" y="1"/>
                </a:moveTo>
                <a:cubicBezTo>
                  <a:pt x="859" y="1"/>
                  <a:pt x="659" y="4"/>
                  <a:pt x="459" y="13"/>
                </a:cubicBezTo>
                <a:lnTo>
                  <a:pt x="401" y="13"/>
                </a:lnTo>
                <a:cubicBezTo>
                  <a:pt x="1" y="13"/>
                  <a:pt x="1" y="586"/>
                  <a:pt x="401" y="586"/>
                </a:cubicBezTo>
                <a:lnTo>
                  <a:pt x="44103" y="586"/>
                </a:lnTo>
                <a:cubicBezTo>
                  <a:pt x="44484" y="586"/>
                  <a:pt x="44879" y="611"/>
                  <a:pt x="45277" y="611"/>
                </a:cubicBezTo>
                <a:cubicBezTo>
                  <a:pt x="45477" y="611"/>
                  <a:pt x="45677" y="605"/>
                  <a:pt x="45877" y="586"/>
                </a:cubicBezTo>
                <a:lnTo>
                  <a:pt x="45963" y="586"/>
                </a:lnTo>
                <a:cubicBezTo>
                  <a:pt x="46335" y="586"/>
                  <a:pt x="46335" y="13"/>
                  <a:pt x="45963" y="13"/>
                </a:cubicBezTo>
                <a:lnTo>
                  <a:pt x="2262" y="13"/>
                </a:lnTo>
                <a:cubicBezTo>
                  <a:pt x="1861" y="13"/>
                  <a:pt x="1460" y="1"/>
                  <a:pt x="1060" y="1"/>
                </a:cubicBezTo>
                <a:close/>
              </a:path>
            </a:pathLst>
          </a:custGeom>
          <a:solidFill>
            <a:schemeClr val="dk1"/>
          </a:solidFill>
          <a:ln>
            <a:noFill/>
          </a:ln>
        </p:spPr>
        <p:txBody>
          <a:bodyPr anchorCtr="0" anchor="ctr" bIns="25775" lIns="85050" spcFirstLastPara="1" rIns="85050" wrap="square" tIns="2577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grpSp>
        <p:nvGrpSpPr>
          <p:cNvPr id="94" name="Google Shape;94;p1"/>
          <p:cNvGrpSpPr/>
          <p:nvPr/>
        </p:nvGrpSpPr>
        <p:grpSpPr>
          <a:xfrm>
            <a:off x="6328821" y="2512862"/>
            <a:ext cx="1468394" cy="1195080"/>
            <a:chOff x="6152040" y="2100600"/>
            <a:chExt cx="1578240" cy="1284480"/>
          </a:xfrm>
        </p:grpSpPr>
        <p:sp>
          <p:nvSpPr>
            <p:cNvPr id="95" name="Google Shape;95;p1"/>
            <p:cNvSpPr/>
            <p:nvPr/>
          </p:nvSpPr>
          <p:spPr>
            <a:xfrm>
              <a:off x="7153200" y="2128320"/>
              <a:ext cx="356760" cy="212400"/>
            </a:xfrm>
            <a:custGeom>
              <a:rect b="b" l="l" r="r" t="t"/>
              <a:pathLst>
                <a:path extrusionOk="0" h="6701" w="11246">
                  <a:moveTo>
                    <a:pt x="7977" y="2830"/>
                  </a:moveTo>
                  <a:cubicBezTo>
                    <a:pt x="9146" y="3597"/>
                    <a:pt x="10917" y="4272"/>
                    <a:pt x="11190" y="5787"/>
                  </a:cubicBezTo>
                  <a:cubicBezTo>
                    <a:pt x="11245" y="6079"/>
                    <a:pt x="11209" y="6390"/>
                    <a:pt x="11117" y="6700"/>
                  </a:cubicBezTo>
                  <a:cubicBezTo>
                    <a:pt x="7485" y="4875"/>
                    <a:pt x="3706" y="3159"/>
                    <a:pt x="0" y="1406"/>
                  </a:cubicBezTo>
                  <a:cubicBezTo>
                    <a:pt x="164" y="968"/>
                    <a:pt x="511" y="639"/>
                    <a:pt x="931" y="493"/>
                  </a:cubicBezTo>
                  <a:cubicBezTo>
                    <a:pt x="2209" y="0"/>
                    <a:pt x="3907" y="968"/>
                    <a:pt x="4911" y="1333"/>
                  </a:cubicBezTo>
                  <a:cubicBezTo>
                    <a:pt x="5257" y="767"/>
                    <a:pt x="5714" y="329"/>
                    <a:pt x="6499" y="329"/>
                  </a:cubicBezTo>
                  <a:cubicBezTo>
                    <a:pt x="7722" y="366"/>
                    <a:pt x="8525" y="1570"/>
                    <a:pt x="7977" y="2830"/>
                  </a:cubicBezTo>
                  <a:close/>
                </a:path>
              </a:pathLst>
            </a:custGeom>
            <a:solidFill>
              <a:schemeClr val="dk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96" name="Google Shape;96;p1"/>
            <p:cNvSpPr/>
            <p:nvPr/>
          </p:nvSpPr>
          <p:spPr>
            <a:xfrm>
              <a:off x="7317720" y="2164320"/>
              <a:ext cx="90000" cy="77400"/>
            </a:xfrm>
            <a:custGeom>
              <a:rect b="b" l="l" r="r" t="t"/>
              <a:pathLst>
                <a:path extrusionOk="0" h="2447" w="2849">
                  <a:moveTo>
                    <a:pt x="1516" y="19"/>
                  </a:moveTo>
                  <a:cubicBezTo>
                    <a:pt x="2848" y="55"/>
                    <a:pt x="2319" y="2446"/>
                    <a:pt x="1004" y="1935"/>
                  </a:cubicBezTo>
                  <a:cubicBezTo>
                    <a:pt x="0" y="1552"/>
                    <a:pt x="585" y="0"/>
                    <a:pt x="1516" y="19"/>
                  </a:cubicBezTo>
                  <a:close/>
                </a:path>
              </a:pathLst>
            </a:custGeom>
            <a:solidFill>
              <a:srgbClr val="FFFFFF"/>
            </a:solidFill>
            <a:ln>
              <a:noFill/>
            </a:ln>
          </p:spPr>
          <p:txBody>
            <a:bodyPr anchorCtr="0" anchor="ctr" bIns="36175" lIns="85050" spcFirstLastPara="1" rIns="85050" wrap="square" tIns="3617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97" name="Google Shape;97;p1"/>
            <p:cNvSpPr/>
            <p:nvPr/>
          </p:nvSpPr>
          <p:spPr>
            <a:xfrm>
              <a:off x="6630840" y="2111040"/>
              <a:ext cx="972000" cy="1124280"/>
            </a:xfrm>
            <a:custGeom>
              <a:rect b="b" l="l" r="r" t="t"/>
              <a:pathLst>
                <a:path extrusionOk="0" h="35416" w="30614">
                  <a:moveTo>
                    <a:pt x="9274" y="4948"/>
                  </a:moveTo>
                  <a:cubicBezTo>
                    <a:pt x="9456" y="4473"/>
                    <a:pt x="9767" y="3761"/>
                    <a:pt x="10095" y="3068"/>
                  </a:cubicBezTo>
                  <a:cubicBezTo>
                    <a:pt x="10771" y="1644"/>
                    <a:pt x="11337" y="1"/>
                    <a:pt x="12614" y="56"/>
                  </a:cubicBezTo>
                  <a:cubicBezTo>
                    <a:pt x="13235" y="92"/>
                    <a:pt x="14075" y="402"/>
                    <a:pt x="14896" y="731"/>
                  </a:cubicBezTo>
                  <a:cubicBezTo>
                    <a:pt x="15718" y="1041"/>
                    <a:pt x="16466" y="1461"/>
                    <a:pt x="17215" y="1808"/>
                  </a:cubicBezTo>
                  <a:cubicBezTo>
                    <a:pt x="20482" y="3378"/>
                    <a:pt x="22837" y="4820"/>
                    <a:pt x="26233" y="6317"/>
                  </a:cubicBezTo>
                  <a:cubicBezTo>
                    <a:pt x="26981" y="6646"/>
                    <a:pt x="27748" y="7047"/>
                    <a:pt x="28478" y="7431"/>
                  </a:cubicBezTo>
                  <a:cubicBezTo>
                    <a:pt x="29482" y="7978"/>
                    <a:pt x="30559" y="8471"/>
                    <a:pt x="30596" y="9347"/>
                  </a:cubicBezTo>
                  <a:cubicBezTo>
                    <a:pt x="30614" y="9767"/>
                    <a:pt x="30267" y="10333"/>
                    <a:pt x="30048" y="10917"/>
                  </a:cubicBezTo>
                  <a:cubicBezTo>
                    <a:pt x="29811" y="11501"/>
                    <a:pt x="29500" y="12031"/>
                    <a:pt x="29281" y="12506"/>
                  </a:cubicBezTo>
                  <a:cubicBezTo>
                    <a:pt x="28734" y="13637"/>
                    <a:pt x="28223" y="14678"/>
                    <a:pt x="27766" y="15645"/>
                  </a:cubicBezTo>
                  <a:cubicBezTo>
                    <a:pt x="26653" y="17964"/>
                    <a:pt x="25813" y="19990"/>
                    <a:pt x="24845" y="22199"/>
                  </a:cubicBezTo>
                  <a:cubicBezTo>
                    <a:pt x="23933" y="24298"/>
                    <a:pt x="23056" y="26562"/>
                    <a:pt x="22016" y="28771"/>
                  </a:cubicBezTo>
                  <a:cubicBezTo>
                    <a:pt x="21121" y="30651"/>
                    <a:pt x="20263" y="33353"/>
                    <a:pt x="18876" y="34503"/>
                  </a:cubicBezTo>
                  <a:cubicBezTo>
                    <a:pt x="17762" y="35416"/>
                    <a:pt x="16247" y="34850"/>
                    <a:pt x="14458" y="34138"/>
                  </a:cubicBezTo>
                  <a:cubicBezTo>
                    <a:pt x="10935" y="32732"/>
                    <a:pt x="7886" y="31016"/>
                    <a:pt x="4637" y="29483"/>
                  </a:cubicBezTo>
                  <a:cubicBezTo>
                    <a:pt x="3870" y="29118"/>
                    <a:pt x="2958" y="28734"/>
                    <a:pt x="2154" y="28333"/>
                  </a:cubicBezTo>
                  <a:cubicBezTo>
                    <a:pt x="1223" y="27876"/>
                    <a:pt x="329" y="27347"/>
                    <a:pt x="164" y="26781"/>
                  </a:cubicBezTo>
                  <a:cubicBezTo>
                    <a:pt x="0" y="26233"/>
                    <a:pt x="457" y="25138"/>
                    <a:pt x="876" y="24207"/>
                  </a:cubicBezTo>
                  <a:cubicBezTo>
                    <a:pt x="1296" y="23221"/>
                    <a:pt x="1753" y="22308"/>
                    <a:pt x="2136" y="21487"/>
                  </a:cubicBezTo>
                  <a:cubicBezTo>
                    <a:pt x="4637" y="16138"/>
                    <a:pt x="6882" y="10406"/>
                    <a:pt x="9256" y="5003"/>
                  </a:cubicBezTo>
                  <a:cubicBezTo>
                    <a:pt x="9256" y="4984"/>
                    <a:pt x="9274" y="4966"/>
                    <a:pt x="9274" y="4948"/>
                  </a:cubicBezTo>
                  <a:close/>
                </a:path>
              </a:pathLst>
            </a:custGeom>
            <a:solidFill>
              <a:schemeClr val="accent6"/>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98" name="Google Shape;98;p1"/>
            <p:cNvSpPr/>
            <p:nvPr/>
          </p:nvSpPr>
          <p:spPr>
            <a:xfrm>
              <a:off x="6723000" y="2775240"/>
              <a:ext cx="37800" cy="55800"/>
            </a:xfrm>
            <a:custGeom>
              <a:rect b="b" l="l" r="r" t="t"/>
              <a:pathLst>
                <a:path extrusionOk="0" h="1771" w="1206">
                  <a:moveTo>
                    <a:pt x="1206" y="128"/>
                  </a:moveTo>
                  <a:cubicBezTo>
                    <a:pt x="1206" y="420"/>
                    <a:pt x="950" y="876"/>
                    <a:pt x="658" y="1296"/>
                  </a:cubicBezTo>
                  <a:cubicBezTo>
                    <a:pt x="548" y="1479"/>
                    <a:pt x="348" y="1771"/>
                    <a:pt x="165" y="1680"/>
                  </a:cubicBezTo>
                  <a:cubicBezTo>
                    <a:pt x="1" y="1588"/>
                    <a:pt x="129" y="1205"/>
                    <a:pt x="202" y="1077"/>
                  </a:cubicBezTo>
                  <a:cubicBezTo>
                    <a:pt x="384" y="676"/>
                    <a:pt x="640" y="310"/>
                    <a:pt x="968" y="18"/>
                  </a:cubicBezTo>
                  <a:cubicBezTo>
                    <a:pt x="1060" y="0"/>
                    <a:pt x="1151" y="55"/>
                    <a:pt x="1206" y="128"/>
                  </a:cubicBezTo>
                  <a:close/>
                </a:path>
              </a:pathLst>
            </a:custGeom>
            <a:solidFill>
              <a:srgbClr val="FFFFFF"/>
            </a:solidFill>
            <a:ln>
              <a:noFill/>
            </a:ln>
          </p:spPr>
          <p:txBody>
            <a:bodyPr anchorCtr="0" anchor="ctr" bIns="26125" lIns="85050" spcFirstLastPara="1" rIns="85050" wrap="square" tIns="2612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99" name="Google Shape;99;p1"/>
            <p:cNvSpPr/>
            <p:nvPr/>
          </p:nvSpPr>
          <p:spPr>
            <a:xfrm>
              <a:off x="6742080" y="2823480"/>
              <a:ext cx="30240" cy="36360"/>
            </a:xfrm>
            <a:custGeom>
              <a:rect b="b" l="l" r="r" t="t"/>
              <a:pathLst>
                <a:path extrusionOk="0" h="1151" w="968">
                  <a:moveTo>
                    <a:pt x="493" y="37"/>
                  </a:moveTo>
                  <a:cubicBezTo>
                    <a:pt x="968" y="165"/>
                    <a:pt x="493" y="1150"/>
                    <a:pt x="146" y="931"/>
                  </a:cubicBezTo>
                  <a:cubicBezTo>
                    <a:pt x="0" y="822"/>
                    <a:pt x="55" y="274"/>
                    <a:pt x="237" y="92"/>
                  </a:cubicBezTo>
                  <a:cubicBezTo>
                    <a:pt x="311" y="19"/>
                    <a:pt x="402" y="0"/>
                    <a:pt x="493" y="37"/>
                  </a:cubicBezTo>
                  <a:close/>
                </a:path>
              </a:pathLst>
            </a:custGeom>
            <a:solidFill>
              <a:srgbClr val="FFFFFF"/>
            </a:solidFill>
            <a:ln>
              <a:noFill/>
            </a:ln>
          </p:spPr>
          <p:txBody>
            <a:bodyPr anchorCtr="0" anchor="ctr" bIns="17075" lIns="85050" spcFirstLastPara="1" rIns="85050" wrap="square" tIns="1707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00" name="Google Shape;100;p1"/>
            <p:cNvSpPr/>
            <p:nvPr/>
          </p:nvSpPr>
          <p:spPr>
            <a:xfrm>
              <a:off x="6694560" y="2896560"/>
              <a:ext cx="19440" cy="36360"/>
            </a:xfrm>
            <a:custGeom>
              <a:rect b="b" l="l" r="r" t="t"/>
              <a:pathLst>
                <a:path extrusionOk="0" h="1151" w="621">
                  <a:moveTo>
                    <a:pt x="384" y="37"/>
                  </a:moveTo>
                  <a:cubicBezTo>
                    <a:pt x="566" y="73"/>
                    <a:pt x="621" y="329"/>
                    <a:pt x="566" y="566"/>
                  </a:cubicBezTo>
                  <a:cubicBezTo>
                    <a:pt x="548" y="767"/>
                    <a:pt x="384" y="1150"/>
                    <a:pt x="183" y="1041"/>
                  </a:cubicBezTo>
                  <a:cubicBezTo>
                    <a:pt x="55" y="931"/>
                    <a:pt x="0" y="749"/>
                    <a:pt x="37" y="585"/>
                  </a:cubicBezTo>
                  <a:cubicBezTo>
                    <a:pt x="73" y="329"/>
                    <a:pt x="165" y="0"/>
                    <a:pt x="384" y="37"/>
                  </a:cubicBezTo>
                  <a:close/>
                </a:path>
              </a:pathLst>
            </a:custGeom>
            <a:solidFill>
              <a:srgbClr val="FFFFFF"/>
            </a:solidFill>
            <a:ln>
              <a:noFill/>
            </a:ln>
          </p:spPr>
          <p:txBody>
            <a:bodyPr anchorCtr="0" anchor="ctr" bIns="17075" lIns="85050" spcFirstLastPara="1" rIns="85050" wrap="square" tIns="1707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01" name="Google Shape;101;p1"/>
            <p:cNvSpPr/>
            <p:nvPr/>
          </p:nvSpPr>
          <p:spPr>
            <a:xfrm>
              <a:off x="6749640" y="2230200"/>
              <a:ext cx="734760" cy="884880"/>
            </a:xfrm>
            <a:custGeom>
              <a:rect b="b" l="l" r="r" t="t"/>
              <a:pathLst>
                <a:path extrusionOk="0" h="27876" w="23148">
                  <a:moveTo>
                    <a:pt x="7485" y="3962"/>
                  </a:moveTo>
                  <a:cubicBezTo>
                    <a:pt x="7631" y="3597"/>
                    <a:pt x="7887" y="3012"/>
                    <a:pt x="8161" y="2465"/>
                  </a:cubicBezTo>
                  <a:cubicBezTo>
                    <a:pt x="8690" y="1315"/>
                    <a:pt x="9146" y="0"/>
                    <a:pt x="10096" y="0"/>
                  </a:cubicBezTo>
                  <a:cubicBezTo>
                    <a:pt x="10570" y="0"/>
                    <a:pt x="11173" y="219"/>
                    <a:pt x="11757" y="457"/>
                  </a:cubicBezTo>
                  <a:cubicBezTo>
                    <a:pt x="12359" y="676"/>
                    <a:pt x="12907" y="986"/>
                    <a:pt x="13454" y="1260"/>
                  </a:cubicBezTo>
                  <a:cubicBezTo>
                    <a:pt x="15828" y="2392"/>
                    <a:pt x="17544" y="3469"/>
                    <a:pt x="20008" y="4564"/>
                  </a:cubicBezTo>
                  <a:cubicBezTo>
                    <a:pt x="20556" y="4801"/>
                    <a:pt x="21103" y="5093"/>
                    <a:pt x="21633" y="5386"/>
                  </a:cubicBezTo>
                  <a:cubicBezTo>
                    <a:pt x="22381" y="5787"/>
                    <a:pt x="23148" y="6134"/>
                    <a:pt x="23148" y="6846"/>
                  </a:cubicBezTo>
                  <a:cubicBezTo>
                    <a:pt x="23148" y="7175"/>
                    <a:pt x="22874" y="7631"/>
                    <a:pt x="22692" y="8106"/>
                  </a:cubicBezTo>
                  <a:cubicBezTo>
                    <a:pt x="22509" y="8580"/>
                    <a:pt x="22272" y="9000"/>
                    <a:pt x="22089" y="9383"/>
                  </a:cubicBezTo>
                  <a:cubicBezTo>
                    <a:pt x="21651" y="10296"/>
                    <a:pt x="21249" y="11136"/>
                    <a:pt x="20866" y="11921"/>
                  </a:cubicBezTo>
                  <a:cubicBezTo>
                    <a:pt x="19990" y="13783"/>
                    <a:pt x="19314" y="15426"/>
                    <a:pt x="18529" y="17197"/>
                  </a:cubicBezTo>
                  <a:cubicBezTo>
                    <a:pt x="17781" y="18894"/>
                    <a:pt x="17087" y="20720"/>
                    <a:pt x="16248" y="22491"/>
                  </a:cubicBezTo>
                  <a:cubicBezTo>
                    <a:pt x="15536" y="24006"/>
                    <a:pt x="14805" y="26178"/>
                    <a:pt x="13747" y="27127"/>
                  </a:cubicBezTo>
                  <a:cubicBezTo>
                    <a:pt x="12907" y="27876"/>
                    <a:pt x="11793" y="27474"/>
                    <a:pt x="10479" y="26963"/>
                  </a:cubicBezTo>
                  <a:cubicBezTo>
                    <a:pt x="7923" y="25941"/>
                    <a:pt x="5714" y="24663"/>
                    <a:pt x="3341" y="23549"/>
                  </a:cubicBezTo>
                  <a:cubicBezTo>
                    <a:pt x="2775" y="23276"/>
                    <a:pt x="2118" y="23002"/>
                    <a:pt x="1534" y="22691"/>
                  </a:cubicBezTo>
                  <a:cubicBezTo>
                    <a:pt x="858" y="22363"/>
                    <a:pt x="201" y="21979"/>
                    <a:pt x="110" y="21541"/>
                  </a:cubicBezTo>
                  <a:cubicBezTo>
                    <a:pt x="0" y="21103"/>
                    <a:pt x="384" y="20227"/>
                    <a:pt x="712" y="19460"/>
                  </a:cubicBezTo>
                  <a:cubicBezTo>
                    <a:pt x="1041" y="18712"/>
                    <a:pt x="1406" y="17945"/>
                    <a:pt x="1716" y="17288"/>
                  </a:cubicBezTo>
                  <a:cubicBezTo>
                    <a:pt x="3725" y="12980"/>
                    <a:pt x="5550" y="8361"/>
                    <a:pt x="7467" y="3998"/>
                  </a:cubicBezTo>
                  <a:cubicBezTo>
                    <a:pt x="7467" y="3998"/>
                    <a:pt x="7485" y="3980"/>
                    <a:pt x="7485" y="3962"/>
                  </a:cubicBezTo>
                  <a:close/>
                </a:path>
              </a:pathLst>
            </a:custGeom>
            <a:solidFill>
              <a:srgbClr val="FFFFFF"/>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02" name="Google Shape;102;p1"/>
            <p:cNvSpPr/>
            <p:nvPr/>
          </p:nvSpPr>
          <p:spPr>
            <a:xfrm>
              <a:off x="7053480" y="2279160"/>
              <a:ext cx="84240" cy="79560"/>
            </a:xfrm>
            <a:custGeom>
              <a:rect b="b" l="l" r="r" t="t"/>
              <a:pathLst>
                <a:path extrusionOk="0" h="2520" w="2666">
                  <a:moveTo>
                    <a:pt x="749" y="1297"/>
                  </a:moveTo>
                  <a:cubicBezTo>
                    <a:pt x="968" y="1133"/>
                    <a:pt x="1205" y="877"/>
                    <a:pt x="1461" y="658"/>
                  </a:cubicBezTo>
                  <a:cubicBezTo>
                    <a:pt x="1698" y="457"/>
                    <a:pt x="1972" y="147"/>
                    <a:pt x="2264" y="74"/>
                  </a:cubicBezTo>
                  <a:cubicBezTo>
                    <a:pt x="2410" y="19"/>
                    <a:pt x="2574" y="110"/>
                    <a:pt x="2629" y="256"/>
                  </a:cubicBezTo>
                  <a:cubicBezTo>
                    <a:pt x="2665" y="585"/>
                    <a:pt x="1972" y="1187"/>
                    <a:pt x="1826" y="1370"/>
                  </a:cubicBezTo>
                  <a:cubicBezTo>
                    <a:pt x="1552" y="1717"/>
                    <a:pt x="1260" y="2045"/>
                    <a:pt x="931" y="2337"/>
                  </a:cubicBezTo>
                  <a:cubicBezTo>
                    <a:pt x="785" y="2447"/>
                    <a:pt x="621" y="2502"/>
                    <a:pt x="457" y="2520"/>
                  </a:cubicBezTo>
                  <a:cubicBezTo>
                    <a:pt x="0" y="2465"/>
                    <a:pt x="0" y="1498"/>
                    <a:pt x="0" y="950"/>
                  </a:cubicBezTo>
                  <a:cubicBezTo>
                    <a:pt x="0" y="640"/>
                    <a:pt x="37" y="19"/>
                    <a:pt x="329" y="1"/>
                  </a:cubicBezTo>
                  <a:cubicBezTo>
                    <a:pt x="749" y="1"/>
                    <a:pt x="712" y="877"/>
                    <a:pt x="749" y="1297"/>
                  </a:cubicBezTo>
                  <a:close/>
                </a:path>
              </a:pathLst>
            </a:custGeom>
            <a:solidFill>
              <a:schemeClr val="accent3"/>
            </a:solidFill>
            <a:ln>
              <a:noFill/>
            </a:ln>
          </p:spPr>
          <p:txBody>
            <a:bodyPr anchorCtr="0" anchor="ctr" bIns="37150" lIns="85050" spcFirstLastPara="1" rIns="85050" wrap="square" tIns="371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03" name="Google Shape;103;p1"/>
            <p:cNvSpPr/>
            <p:nvPr/>
          </p:nvSpPr>
          <p:spPr>
            <a:xfrm>
              <a:off x="6942240" y="2509200"/>
              <a:ext cx="84240" cy="79560"/>
            </a:xfrm>
            <a:custGeom>
              <a:rect b="b" l="l" r="r" t="t"/>
              <a:pathLst>
                <a:path extrusionOk="0" h="2520" w="2666">
                  <a:moveTo>
                    <a:pt x="749" y="1278"/>
                  </a:moveTo>
                  <a:cubicBezTo>
                    <a:pt x="968" y="1114"/>
                    <a:pt x="1205" y="876"/>
                    <a:pt x="1461" y="639"/>
                  </a:cubicBezTo>
                  <a:cubicBezTo>
                    <a:pt x="1698" y="456"/>
                    <a:pt x="1972" y="146"/>
                    <a:pt x="2264" y="55"/>
                  </a:cubicBezTo>
                  <a:cubicBezTo>
                    <a:pt x="2410" y="18"/>
                    <a:pt x="2574" y="110"/>
                    <a:pt x="2611" y="256"/>
                  </a:cubicBezTo>
                  <a:cubicBezTo>
                    <a:pt x="2665" y="566"/>
                    <a:pt x="1972" y="1187"/>
                    <a:pt x="1826" y="1351"/>
                  </a:cubicBezTo>
                  <a:cubicBezTo>
                    <a:pt x="1552" y="1716"/>
                    <a:pt x="1260" y="2026"/>
                    <a:pt x="931" y="2318"/>
                  </a:cubicBezTo>
                  <a:cubicBezTo>
                    <a:pt x="785" y="2428"/>
                    <a:pt x="621" y="2501"/>
                    <a:pt x="457" y="2519"/>
                  </a:cubicBezTo>
                  <a:cubicBezTo>
                    <a:pt x="0" y="2464"/>
                    <a:pt x="0" y="1497"/>
                    <a:pt x="0" y="949"/>
                  </a:cubicBezTo>
                  <a:cubicBezTo>
                    <a:pt x="0" y="639"/>
                    <a:pt x="37" y="18"/>
                    <a:pt x="329" y="0"/>
                  </a:cubicBezTo>
                  <a:cubicBezTo>
                    <a:pt x="749" y="0"/>
                    <a:pt x="712" y="876"/>
                    <a:pt x="749" y="1278"/>
                  </a:cubicBezTo>
                  <a:close/>
                </a:path>
              </a:pathLst>
            </a:custGeom>
            <a:solidFill>
              <a:schemeClr val="accent3"/>
            </a:solidFill>
            <a:ln>
              <a:noFill/>
            </a:ln>
          </p:spPr>
          <p:txBody>
            <a:bodyPr anchorCtr="0" anchor="ctr" bIns="37150" lIns="85050" spcFirstLastPara="1" rIns="85050" wrap="square" tIns="371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04" name="Google Shape;104;p1"/>
            <p:cNvSpPr/>
            <p:nvPr/>
          </p:nvSpPr>
          <p:spPr>
            <a:xfrm>
              <a:off x="6983280" y="2400840"/>
              <a:ext cx="91800" cy="76680"/>
            </a:xfrm>
            <a:custGeom>
              <a:rect b="b" l="l" r="r" t="t"/>
              <a:pathLst>
                <a:path extrusionOk="0" h="2429" w="2903">
                  <a:moveTo>
                    <a:pt x="621" y="1406"/>
                  </a:moveTo>
                  <a:cubicBezTo>
                    <a:pt x="895" y="1223"/>
                    <a:pt x="1187" y="931"/>
                    <a:pt x="1534" y="676"/>
                  </a:cubicBezTo>
                  <a:cubicBezTo>
                    <a:pt x="1881" y="420"/>
                    <a:pt x="2209" y="128"/>
                    <a:pt x="2574" y="19"/>
                  </a:cubicBezTo>
                  <a:cubicBezTo>
                    <a:pt x="2702" y="0"/>
                    <a:pt x="2830" y="92"/>
                    <a:pt x="2866" y="219"/>
                  </a:cubicBezTo>
                  <a:cubicBezTo>
                    <a:pt x="2903" y="457"/>
                    <a:pt x="2465" y="785"/>
                    <a:pt x="2373" y="877"/>
                  </a:cubicBezTo>
                  <a:cubicBezTo>
                    <a:pt x="1990" y="1242"/>
                    <a:pt x="1570" y="1570"/>
                    <a:pt x="1150" y="1899"/>
                  </a:cubicBezTo>
                  <a:cubicBezTo>
                    <a:pt x="877" y="2100"/>
                    <a:pt x="365" y="2428"/>
                    <a:pt x="128" y="2008"/>
                  </a:cubicBezTo>
                  <a:cubicBezTo>
                    <a:pt x="0" y="1789"/>
                    <a:pt x="37" y="1260"/>
                    <a:pt x="73" y="895"/>
                  </a:cubicBezTo>
                  <a:cubicBezTo>
                    <a:pt x="110" y="548"/>
                    <a:pt x="219" y="219"/>
                    <a:pt x="457" y="292"/>
                  </a:cubicBezTo>
                  <a:cubicBezTo>
                    <a:pt x="712" y="365"/>
                    <a:pt x="603" y="1041"/>
                    <a:pt x="621" y="1406"/>
                  </a:cubicBezTo>
                  <a:close/>
                </a:path>
              </a:pathLst>
            </a:custGeom>
            <a:solidFill>
              <a:schemeClr val="accent3"/>
            </a:solidFill>
            <a:ln>
              <a:noFill/>
            </a:ln>
          </p:spPr>
          <p:txBody>
            <a:bodyPr anchorCtr="0" anchor="ctr" bIns="35825" lIns="85050" spcFirstLastPara="1" rIns="85050" wrap="square" tIns="3582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05" name="Google Shape;105;p1"/>
            <p:cNvSpPr/>
            <p:nvPr/>
          </p:nvSpPr>
          <p:spPr>
            <a:xfrm>
              <a:off x="6832440" y="2730600"/>
              <a:ext cx="91440" cy="76680"/>
            </a:xfrm>
            <a:custGeom>
              <a:rect b="b" l="l" r="r" t="t"/>
              <a:pathLst>
                <a:path extrusionOk="0" h="2429" w="2886">
                  <a:moveTo>
                    <a:pt x="603" y="1406"/>
                  </a:moveTo>
                  <a:cubicBezTo>
                    <a:pt x="877" y="1224"/>
                    <a:pt x="1188" y="913"/>
                    <a:pt x="1516" y="676"/>
                  </a:cubicBezTo>
                  <a:cubicBezTo>
                    <a:pt x="1863" y="420"/>
                    <a:pt x="2192" y="110"/>
                    <a:pt x="2557" y="19"/>
                  </a:cubicBezTo>
                  <a:cubicBezTo>
                    <a:pt x="2684" y="0"/>
                    <a:pt x="2812" y="73"/>
                    <a:pt x="2867" y="220"/>
                  </a:cubicBezTo>
                  <a:cubicBezTo>
                    <a:pt x="2885" y="457"/>
                    <a:pt x="2465" y="785"/>
                    <a:pt x="2374" y="858"/>
                  </a:cubicBezTo>
                  <a:cubicBezTo>
                    <a:pt x="1973" y="1224"/>
                    <a:pt x="1571" y="1570"/>
                    <a:pt x="1133" y="1899"/>
                  </a:cubicBezTo>
                  <a:cubicBezTo>
                    <a:pt x="859" y="2100"/>
                    <a:pt x="366" y="2428"/>
                    <a:pt x="129" y="2009"/>
                  </a:cubicBezTo>
                  <a:cubicBezTo>
                    <a:pt x="1" y="1771"/>
                    <a:pt x="19" y="1260"/>
                    <a:pt x="74" y="895"/>
                  </a:cubicBezTo>
                  <a:cubicBezTo>
                    <a:pt x="110" y="548"/>
                    <a:pt x="202" y="220"/>
                    <a:pt x="457" y="293"/>
                  </a:cubicBezTo>
                  <a:cubicBezTo>
                    <a:pt x="713" y="384"/>
                    <a:pt x="603" y="1041"/>
                    <a:pt x="603" y="1406"/>
                  </a:cubicBezTo>
                  <a:close/>
                </a:path>
              </a:pathLst>
            </a:custGeom>
            <a:solidFill>
              <a:schemeClr val="accent3"/>
            </a:solidFill>
            <a:ln>
              <a:noFill/>
            </a:ln>
          </p:spPr>
          <p:txBody>
            <a:bodyPr anchorCtr="0" anchor="ctr" bIns="35825" lIns="85050" spcFirstLastPara="1" rIns="85050" wrap="square" tIns="3582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06" name="Google Shape;106;p1"/>
            <p:cNvSpPr/>
            <p:nvPr/>
          </p:nvSpPr>
          <p:spPr>
            <a:xfrm>
              <a:off x="6874200" y="2632320"/>
              <a:ext cx="80280" cy="75600"/>
            </a:xfrm>
            <a:custGeom>
              <a:rect b="b" l="l" r="r" t="t"/>
              <a:pathLst>
                <a:path extrusionOk="0" h="2392" w="2538">
                  <a:moveTo>
                    <a:pt x="1716" y="0"/>
                  </a:moveTo>
                  <a:cubicBezTo>
                    <a:pt x="1534" y="0"/>
                    <a:pt x="1406" y="256"/>
                    <a:pt x="1278" y="511"/>
                  </a:cubicBezTo>
                  <a:lnTo>
                    <a:pt x="1223" y="621"/>
                  </a:lnTo>
                  <a:cubicBezTo>
                    <a:pt x="1187" y="676"/>
                    <a:pt x="1150" y="749"/>
                    <a:pt x="1114" y="822"/>
                  </a:cubicBezTo>
                  <a:lnTo>
                    <a:pt x="1041" y="785"/>
                  </a:lnTo>
                  <a:lnTo>
                    <a:pt x="895" y="730"/>
                  </a:lnTo>
                  <a:cubicBezTo>
                    <a:pt x="712" y="657"/>
                    <a:pt x="530" y="603"/>
                    <a:pt x="329" y="584"/>
                  </a:cubicBezTo>
                  <a:cubicBezTo>
                    <a:pt x="128" y="584"/>
                    <a:pt x="73" y="676"/>
                    <a:pt x="55" y="749"/>
                  </a:cubicBezTo>
                  <a:cubicBezTo>
                    <a:pt x="0" y="986"/>
                    <a:pt x="365" y="1205"/>
                    <a:pt x="840" y="1406"/>
                  </a:cubicBezTo>
                  <a:cubicBezTo>
                    <a:pt x="822" y="1461"/>
                    <a:pt x="804" y="1497"/>
                    <a:pt x="785" y="1552"/>
                  </a:cubicBezTo>
                  <a:cubicBezTo>
                    <a:pt x="658" y="1826"/>
                    <a:pt x="548" y="2118"/>
                    <a:pt x="621" y="2282"/>
                  </a:cubicBezTo>
                  <a:cubicBezTo>
                    <a:pt x="639" y="2337"/>
                    <a:pt x="694" y="2373"/>
                    <a:pt x="767" y="2392"/>
                  </a:cubicBezTo>
                  <a:lnTo>
                    <a:pt x="804" y="2392"/>
                  </a:lnTo>
                  <a:cubicBezTo>
                    <a:pt x="1023" y="2392"/>
                    <a:pt x="1242" y="2045"/>
                    <a:pt x="1461" y="1625"/>
                  </a:cubicBezTo>
                  <a:cubicBezTo>
                    <a:pt x="1607" y="1661"/>
                    <a:pt x="1753" y="1698"/>
                    <a:pt x="1881" y="1734"/>
                  </a:cubicBezTo>
                  <a:cubicBezTo>
                    <a:pt x="1972" y="1771"/>
                    <a:pt x="2081" y="1789"/>
                    <a:pt x="2191" y="1807"/>
                  </a:cubicBezTo>
                  <a:cubicBezTo>
                    <a:pt x="2392" y="1807"/>
                    <a:pt x="2465" y="1716"/>
                    <a:pt x="2501" y="1643"/>
                  </a:cubicBezTo>
                  <a:cubicBezTo>
                    <a:pt x="2538" y="1424"/>
                    <a:pt x="2246" y="1296"/>
                    <a:pt x="1972" y="1168"/>
                  </a:cubicBezTo>
                  <a:lnTo>
                    <a:pt x="1862" y="1132"/>
                  </a:lnTo>
                  <a:cubicBezTo>
                    <a:pt x="1808" y="1095"/>
                    <a:pt x="1753" y="1077"/>
                    <a:pt x="1698" y="1041"/>
                  </a:cubicBezTo>
                  <a:cubicBezTo>
                    <a:pt x="1753" y="895"/>
                    <a:pt x="1808" y="749"/>
                    <a:pt x="1844" y="621"/>
                  </a:cubicBezTo>
                  <a:cubicBezTo>
                    <a:pt x="1899" y="493"/>
                    <a:pt x="2027" y="91"/>
                    <a:pt x="1771" y="0"/>
                  </a:cubicBezTo>
                  <a:close/>
                </a:path>
              </a:pathLst>
            </a:custGeom>
            <a:solidFill>
              <a:schemeClr val="accent1"/>
            </a:solidFill>
            <a:ln>
              <a:noFill/>
            </a:ln>
          </p:spPr>
          <p:txBody>
            <a:bodyPr anchorCtr="0" anchor="ctr" bIns="35175" lIns="85050" spcFirstLastPara="1" rIns="85050" wrap="square" tIns="3517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07" name="Google Shape;107;p1"/>
            <p:cNvSpPr/>
            <p:nvPr/>
          </p:nvSpPr>
          <p:spPr>
            <a:xfrm>
              <a:off x="7126920" y="2324160"/>
              <a:ext cx="312120" cy="185760"/>
            </a:xfrm>
            <a:custGeom>
              <a:rect b="b" l="l" r="r" t="t"/>
              <a:pathLst>
                <a:path extrusionOk="0" h="5861" w="9841">
                  <a:moveTo>
                    <a:pt x="475" y="1"/>
                  </a:moveTo>
                  <a:lnTo>
                    <a:pt x="1" y="986"/>
                  </a:lnTo>
                  <a:cubicBezTo>
                    <a:pt x="201" y="1096"/>
                    <a:pt x="402" y="1187"/>
                    <a:pt x="585" y="1279"/>
                  </a:cubicBezTo>
                  <a:cubicBezTo>
                    <a:pt x="3195" y="2556"/>
                    <a:pt x="5696" y="4017"/>
                    <a:pt x="8215" y="5313"/>
                  </a:cubicBezTo>
                  <a:cubicBezTo>
                    <a:pt x="8544" y="5477"/>
                    <a:pt x="8946" y="5714"/>
                    <a:pt x="9274" y="5861"/>
                  </a:cubicBezTo>
                  <a:cubicBezTo>
                    <a:pt x="9438" y="5550"/>
                    <a:pt x="9621" y="5240"/>
                    <a:pt x="9767" y="4893"/>
                  </a:cubicBezTo>
                  <a:cubicBezTo>
                    <a:pt x="9804" y="4856"/>
                    <a:pt x="9822" y="4802"/>
                    <a:pt x="9840" y="4747"/>
                  </a:cubicBezTo>
                  <a:cubicBezTo>
                    <a:pt x="9493" y="4546"/>
                    <a:pt x="9128" y="4364"/>
                    <a:pt x="8781" y="4199"/>
                  </a:cubicBezTo>
                  <a:cubicBezTo>
                    <a:pt x="7193" y="3341"/>
                    <a:pt x="5787" y="2593"/>
                    <a:pt x="4163" y="1790"/>
                  </a:cubicBezTo>
                  <a:cubicBezTo>
                    <a:pt x="3177" y="1297"/>
                    <a:pt x="2155" y="840"/>
                    <a:pt x="1096" y="311"/>
                  </a:cubicBezTo>
                  <a:lnTo>
                    <a:pt x="475" y="1"/>
                  </a:lnTo>
                  <a:close/>
                </a:path>
              </a:pathLst>
            </a:custGeom>
            <a:solidFill>
              <a:schemeClr val="dk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08" name="Google Shape;108;p1"/>
            <p:cNvSpPr/>
            <p:nvPr/>
          </p:nvSpPr>
          <p:spPr>
            <a:xfrm>
              <a:off x="7089480" y="2400120"/>
              <a:ext cx="310320" cy="183960"/>
            </a:xfrm>
            <a:custGeom>
              <a:rect b="b" l="l" r="r" t="t"/>
              <a:pathLst>
                <a:path extrusionOk="0" h="5806" w="9786">
                  <a:moveTo>
                    <a:pt x="494" y="0"/>
                  </a:moveTo>
                  <a:lnTo>
                    <a:pt x="1" y="986"/>
                  </a:lnTo>
                  <a:lnTo>
                    <a:pt x="220" y="1095"/>
                  </a:lnTo>
                  <a:cubicBezTo>
                    <a:pt x="2812" y="2373"/>
                    <a:pt x="5313" y="3815"/>
                    <a:pt x="7832" y="5130"/>
                  </a:cubicBezTo>
                  <a:cubicBezTo>
                    <a:pt x="8325" y="5385"/>
                    <a:pt x="8982" y="5787"/>
                    <a:pt x="9293" y="5805"/>
                  </a:cubicBezTo>
                  <a:cubicBezTo>
                    <a:pt x="9457" y="5458"/>
                    <a:pt x="9621" y="5093"/>
                    <a:pt x="9786" y="4728"/>
                  </a:cubicBezTo>
                  <a:cubicBezTo>
                    <a:pt x="9366" y="4454"/>
                    <a:pt x="8873" y="4235"/>
                    <a:pt x="8417" y="3998"/>
                  </a:cubicBezTo>
                  <a:cubicBezTo>
                    <a:pt x="6828" y="3158"/>
                    <a:pt x="5404" y="2410"/>
                    <a:pt x="3780" y="1588"/>
                  </a:cubicBezTo>
                  <a:cubicBezTo>
                    <a:pt x="2794" y="1114"/>
                    <a:pt x="1790" y="639"/>
                    <a:pt x="713" y="110"/>
                  </a:cubicBezTo>
                  <a:lnTo>
                    <a:pt x="494" y="0"/>
                  </a:lnTo>
                  <a:close/>
                </a:path>
              </a:pathLst>
            </a:custGeom>
            <a:solidFill>
              <a:schemeClr val="dk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09" name="Google Shape;109;p1"/>
            <p:cNvSpPr/>
            <p:nvPr/>
          </p:nvSpPr>
          <p:spPr>
            <a:xfrm>
              <a:off x="7052760" y="2474280"/>
              <a:ext cx="311040" cy="183960"/>
            </a:xfrm>
            <a:custGeom>
              <a:rect b="b" l="l" r="r" t="t"/>
              <a:pathLst>
                <a:path extrusionOk="0" h="5806" w="9804">
                  <a:moveTo>
                    <a:pt x="494" y="1"/>
                  </a:moveTo>
                  <a:lnTo>
                    <a:pt x="1" y="968"/>
                  </a:lnTo>
                  <a:cubicBezTo>
                    <a:pt x="293" y="1114"/>
                    <a:pt x="567" y="1260"/>
                    <a:pt x="822" y="1388"/>
                  </a:cubicBezTo>
                  <a:cubicBezTo>
                    <a:pt x="3415" y="2648"/>
                    <a:pt x="5934" y="4108"/>
                    <a:pt x="8435" y="5404"/>
                  </a:cubicBezTo>
                  <a:cubicBezTo>
                    <a:pt x="8672" y="5532"/>
                    <a:pt x="8909" y="5678"/>
                    <a:pt x="9165" y="5806"/>
                  </a:cubicBezTo>
                  <a:cubicBezTo>
                    <a:pt x="9384" y="5441"/>
                    <a:pt x="9585" y="5057"/>
                    <a:pt x="9804" y="4692"/>
                  </a:cubicBezTo>
                  <a:cubicBezTo>
                    <a:pt x="9530" y="4546"/>
                    <a:pt x="9274" y="4418"/>
                    <a:pt x="9019" y="4291"/>
                  </a:cubicBezTo>
                  <a:cubicBezTo>
                    <a:pt x="7431" y="3451"/>
                    <a:pt x="6007" y="2684"/>
                    <a:pt x="4382" y="1881"/>
                  </a:cubicBezTo>
                  <a:cubicBezTo>
                    <a:pt x="3396" y="1406"/>
                    <a:pt x="2374" y="932"/>
                    <a:pt x="1315" y="402"/>
                  </a:cubicBezTo>
                  <a:cubicBezTo>
                    <a:pt x="1060" y="275"/>
                    <a:pt x="804" y="147"/>
                    <a:pt x="494" y="1"/>
                  </a:cubicBezTo>
                  <a:close/>
                </a:path>
              </a:pathLst>
            </a:custGeom>
            <a:solidFill>
              <a:schemeClr val="dk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10" name="Google Shape;110;p1"/>
            <p:cNvSpPr/>
            <p:nvPr/>
          </p:nvSpPr>
          <p:spPr>
            <a:xfrm>
              <a:off x="7015680" y="2549880"/>
              <a:ext cx="305280" cy="181080"/>
            </a:xfrm>
            <a:custGeom>
              <a:rect b="b" l="l" r="r" t="t"/>
              <a:pathLst>
                <a:path extrusionOk="0" h="5715" w="9621">
                  <a:moveTo>
                    <a:pt x="493" y="1"/>
                  </a:moveTo>
                  <a:lnTo>
                    <a:pt x="1" y="1005"/>
                  </a:lnTo>
                  <a:lnTo>
                    <a:pt x="420" y="1224"/>
                  </a:lnTo>
                  <a:cubicBezTo>
                    <a:pt x="3031" y="2484"/>
                    <a:pt x="5532" y="3944"/>
                    <a:pt x="8051" y="5240"/>
                  </a:cubicBezTo>
                  <a:cubicBezTo>
                    <a:pt x="8325" y="5386"/>
                    <a:pt x="8653" y="5587"/>
                    <a:pt x="8946" y="5715"/>
                  </a:cubicBezTo>
                  <a:lnTo>
                    <a:pt x="9621" y="4638"/>
                  </a:lnTo>
                  <a:cubicBezTo>
                    <a:pt x="9292" y="4455"/>
                    <a:pt x="8946" y="4291"/>
                    <a:pt x="8617" y="4127"/>
                  </a:cubicBezTo>
                  <a:cubicBezTo>
                    <a:pt x="7047" y="3269"/>
                    <a:pt x="5623" y="2520"/>
                    <a:pt x="3998" y="1717"/>
                  </a:cubicBezTo>
                  <a:cubicBezTo>
                    <a:pt x="3013" y="1224"/>
                    <a:pt x="1990" y="768"/>
                    <a:pt x="932" y="238"/>
                  </a:cubicBezTo>
                  <a:lnTo>
                    <a:pt x="493" y="1"/>
                  </a:lnTo>
                  <a:close/>
                </a:path>
              </a:pathLst>
            </a:custGeom>
            <a:solidFill>
              <a:schemeClr val="dk1"/>
            </a:solidFill>
            <a:ln>
              <a:noFill/>
            </a:ln>
          </p:spPr>
          <p:txBody>
            <a:bodyPr anchorCtr="0" anchor="ctr" bIns="84375" lIns="85050" spcFirstLastPara="1" rIns="85050" wrap="square" tIns="8437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11" name="Google Shape;111;p1"/>
            <p:cNvSpPr/>
            <p:nvPr/>
          </p:nvSpPr>
          <p:spPr>
            <a:xfrm>
              <a:off x="6982560" y="2618280"/>
              <a:ext cx="308520" cy="183960"/>
            </a:xfrm>
            <a:custGeom>
              <a:rect b="b" l="l" r="r" t="t"/>
              <a:pathLst>
                <a:path extrusionOk="0" h="5807" w="9730">
                  <a:moveTo>
                    <a:pt x="475" y="1"/>
                  </a:moveTo>
                  <a:lnTo>
                    <a:pt x="0" y="987"/>
                  </a:lnTo>
                  <a:lnTo>
                    <a:pt x="475" y="1224"/>
                  </a:lnTo>
                  <a:cubicBezTo>
                    <a:pt x="3067" y="2502"/>
                    <a:pt x="5586" y="3944"/>
                    <a:pt x="8087" y="5258"/>
                  </a:cubicBezTo>
                  <a:cubicBezTo>
                    <a:pt x="8434" y="5423"/>
                    <a:pt x="8835" y="5660"/>
                    <a:pt x="9146" y="5806"/>
                  </a:cubicBezTo>
                  <a:cubicBezTo>
                    <a:pt x="9328" y="5477"/>
                    <a:pt x="9511" y="5167"/>
                    <a:pt x="9657" y="4839"/>
                  </a:cubicBezTo>
                  <a:cubicBezTo>
                    <a:pt x="9693" y="4784"/>
                    <a:pt x="9712" y="4729"/>
                    <a:pt x="9730" y="4674"/>
                  </a:cubicBezTo>
                  <a:cubicBezTo>
                    <a:pt x="9383" y="4492"/>
                    <a:pt x="9018" y="4309"/>
                    <a:pt x="8671" y="4127"/>
                  </a:cubicBezTo>
                  <a:cubicBezTo>
                    <a:pt x="7083" y="3287"/>
                    <a:pt x="5659" y="2538"/>
                    <a:pt x="4034" y="1717"/>
                  </a:cubicBezTo>
                  <a:cubicBezTo>
                    <a:pt x="3049" y="1242"/>
                    <a:pt x="2045" y="768"/>
                    <a:pt x="986" y="238"/>
                  </a:cubicBezTo>
                  <a:lnTo>
                    <a:pt x="475" y="1"/>
                  </a:lnTo>
                  <a:close/>
                </a:path>
              </a:pathLst>
            </a:custGeom>
            <a:solidFill>
              <a:schemeClr val="dk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12" name="Google Shape;112;p1"/>
            <p:cNvSpPr/>
            <p:nvPr/>
          </p:nvSpPr>
          <p:spPr>
            <a:xfrm>
              <a:off x="6945120" y="2694240"/>
              <a:ext cx="307080" cy="182160"/>
            </a:xfrm>
            <a:custGeom>
              <a:rect b="b" l="l" r="r" t="t"/>
              <a:pathLst>
                <a:path extrusionOk="0" h="5751" w="9676">
                  <a:moveTo>
                    <a:pt x="493" y="0"/>
                  </a:moveTo>
                  <a:lnTo>
                    <a:pt x="0" y="986"/>
                  </a:lnTo>
                  <a:lnTo>
                    <a:pt x="92" y="1041"/>
                  </a:lnTo>
                  <a:cubicBezTo>
                    <a:pt x="2702" y="2301"/>
                    <a:pt x="5221" y="3761"/>
                    <a:pt x="7722" y="5057"/>
                  </a:cubicBezTo>
                  <a:cubicBezTo>
                    <a:pt x="8215" y="5313"/>
                    <a:pt x="8872" y="5714"/>
                    <a:pt x="9183" y="5751"/>
                  </a:cubicBezTo>
                  <a:cubicBezTo>
                    <a:pt x="9347" y="5386"/>
                    <a:pt x="9511" y="5039"/>
                    <a:pt x="9676" y="4674"/>
                  </a:cubicBezTo>
                  <a:cubicBezTo>
                    <a:pt x="9256" y="4400"/>
                    <a:pt x="8763" y="4181"/>
                    <a:pt x="8307" y="3943"/>
                  </a:cubicBezTo>
                  <a:cubicBezTo>
                    <a:pt x="6718" y="3085"/>
                    <a:pt x="5294" y="2337"/>
                    <a:pt x="3670" y="1534"/>
                  </a:cubicBezTo>
                  <a:cubicBezTo>
                    <a:pt x="2684" y="1041"/>
                    <a:pt x="1662" y="585"/>
                    <a:pt x="603" y="55"/>
                  </a:cubicBezTo>
                  <a:lnTo>
                    <a:pt x="493" y="0"/>
                  </a:lnTo>
                  <a:close/>
                </a:path>
              </a:pathLst>
            </a:custGeom>
            <a:solidFill>
              <a:schemeClr val="dk1"/>
            </a:solidFill>
            <a:ln>
              <a:noFill/>
            </a:ln>
          </p:spPr>
          <p:txBody>
            <a:bodyPr anchorCtr="0" anchor="ctr" bIns="84750" lIns="85050" spcFirstLastPara="1" rIns="85050" wrap="square" tIns="847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13" name="Google Shape;113;p1"/>
            <p:cNvSpPr/>
            <p:nvPr/>
          </p:nvSpPr>
          <p:spPr>
            <a:xfrm>
              <a:off x="6909120" y="2767680"/>
              <a:ext cx="307080" cy="182160"/>
            </a:xfrm>
            <a:custGeom>
              <a:rect b="b" l="l" r="r" t="t"/>
              <a:pathLst>
                <a:path extrusionOk="0" h="5752" w="9676">
                  <a:moveTo>
                    <a:pt x="475" y="1"/>
                  </a:moveTo>
                  <a:lnTo>
                    <a:pt x="1" y="987"/>
                  </a:lnTo>
                  <a:cubicBezTo>
                    <a:pt x="238" y="1114"/>
                    <a:pt x="475" y="1224"/>
                    <a:pt x="694" y="1333"/>
                  </a:cubicBezTo>
                  <a:cubicBezTo>
                    <a:pt x="3287" y="2611"/>
                    <a:pt x="5787" y="4072"/>
                    <a:pt x="8307" y="5368"/>
                  </a:cubicBezTo>
                  <a:cubicBezTo>
                    <a:pt x="8544" y="5477"/>
                    <a:pt x="8800" y="5623"/>
                    <a:pt x="9037" y="5751"/>
                  </a:cubicBezTo>
                  <a:cubicBezTo>
                    <a:pt x="9256" y="5386"/>
                    <a:pt x="9475" y="5021"/>
                    <a:pt x="9676" y="4638"/>
                  </a:cubicBezTo>
                  <a:cubicBezTo>
                    <a:pt x="9420" y="4510"/>
                    <a:pt x="9146" y="4382"/>
                    <a:pt x="8891" y="4254"/>
                  </a:cubicBezTo>
                  <a:cubicBezTo>
                    <a:pt x="7303" y="3396"/>
                    <a:pt x="5879" y="2648"/>
                    <a:pt x="4254" y="1845"/>
                  </a:cubicBezTo>
                  <a:cubicBezTo>
                    <a:pt x="3268" y="1352"/>
                    <a:pt x="2264" y="895"/>
                    <a:pt x="1187" y="366"/>
                  </a:cubicBezTo>
                  <a:cubicBezTo>
                    <a:pt x="968" y="238"/>
                    <a:pt x="731" y="129"/>
                    <a:pt x="475" y="1"/>
                  </a:cubicBezTo>
                  <a:close/>
                </a:path>
              </a:pathLst>
            </a:custGeom>
            <a:solidFill>
              <a:schemeClr val="dk1"/>
            </a:solidFill>
            <a:ln>
              <a:noFill/>
            </a:ln>
          </p:spPr>
          <p:txBody>
            <a:bodyPr anchorCtr="0" anchor="ctr" bIns="84750" lIns="85050" spcFirstLastPara="1" rIns="85050" wrap="square" tIns="847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14" name="Google Shape;114;p1"/>
            <p:cNvSpPr/>
            <p:nvPr/>
          </p:nvSpPr>
          <p:spPr>
            <a:xfrm>
              <a:off x="6871320" y="2843640"/>
              <a:ext cx="301680" cy="179280"/>
            </a:xfrm>
            <a:custGeom>
              <a:rect b="b" l="l" r="r" t="t"/>
              <a:pathLst>
                <a:path extrusionOk="0" h="5660" w="9511">
                  <a:moveTo>
                    <a:pt x="493" y="0"/>
                  </a:moveTo>
                  <a:lnTo>
                    <a:pt x="0" y="1004"/>
                  </a:lnTo>
                  <a:lnTo>
                    <a:pt x="310" y="1150"/>
                  </a:lnTo>
                  <a:cubicBezTo>
                    <a:pt x="2921" y="2428"/>
                    <a:pt x="5422" y="3870"/>
                    <a:pt x="7941" y="5185"/>
                  </a:cubicBezTo>
                  <a:cubicBezTo>
                    <a:pt x="8215" y="5331"/>
                    <a:pt x="8543" y="5513"/>
                    <a:pt x="8836" y="5659"/>
                  </a:cubicBezTo>
                  <a:lnTo>
                    <a:pt x="9511" y="4564"/>
                  </a:lnTo>
                  <a:cubicBezTo>
                    <a:pt x="9182" y="4400"/>
                    <a:pt x="8836" y="4235"/>
                    <a:pt x="8507" y="4053"/>
                  </a:cubicBezTo>
                  <a:cubicBezTo>
                    <a:pt x="6919" y="3213"/>
                    <a:pt x="5513" y="2465"/>
                    <a:pt x="3888" y="1661"/>
                  </a:cubicBezTo>
                  <a:cubicBezTo>
                    <a:pt x="2903" y="1169"/>
                    <a:pt x="1880" y="712"/>
                    <a:pt x="822" y="164"/>
                  </a:cubicBezTo>
                  <a:lnTo>
                    <a:pt x="493" y="0"/>
                  </a:lnTo>
                  <a:close/>
                </a:path>
              </a:pathLst>
            </a:custGeom>
            <a:solidFill>
              <a:schemeClr val="dk1"/>
            </a:solidFill>
            <a:ln>
              <a:noFill/>
            </a:ln>
          </p:spPr>
          <p:txBody>
            <a:bodyPr anchorCtr="0" anchor="ctr" bIns="83375" lIns="85050" spcFirstLastPara="1" rIns="85050" wrap="square" tIns="8337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15" name="Google Shape;115;p1"/>
            <p:cNvSpPr/>
            <p:nvPr/>
          </p:nvSpPr>
          <p:spPr>
            <a:xfrm>
              <a:off x="6702480" y="3065760"/>
              <a:ext cx="36360" cy="65160"/>
            </a:xfrm>
            <a:custGeom>
              <a:rect b="b" l="l" r="r" t="t"/>
              <a:pathLst>
                <a:path extrusionOk="0" h="2064" w="1151">
                  <a:moveTo>
                    <a:pt x="1" y="1"/>
                  </a:moveTo>
                  <a:lnTo>
                    <a:pt x="256" y="1005"/>
                  </a:lnTo>
                  <a:cubicBezTo>
                    <a:pt x="329" y="1297"/>
                    <a:pt x="402" y="1589"/>
                    <a:pt x="457" y="1826"/>
                  </a:cubicBezTo>
                  <a:cubicBezTo>
                    <a:pt x="494" y="1899"/>
                    <a:pt x="512" y="2027"/>
                    <a:pt x="603" y="2064"/>
                  </a:cubicBezTo>
                  <a:lnTo>
                    <a:pt x="622" y="2064"/>
                  </a:lnTo>
                  <a:cubicBezTo>
                    <a:pt x="822" y="1461"/>
                    <a:pt x="950" y="804"/>
                    <a:pt x="1151" y="1"/>
                  </a:cubicBezTo>
                  <a:close/>
                </a:path>
              </a:pathLst>
            </a:custGeom>
            <a:solidFill>
              <a:schemeClr val="lt2"/>
            </a:solidFill>
            <a:ln>
              <a:noFill/>
            </a:ln>
          </p:spPr>
          <p:txBody>
            <a:bodyPr anchorCtr="0" anchor="ctr" bIns="30475" lIns="85050" spcFirstLastPara="1" rIns="85050" wrap="square" tIns="3047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16" name="Google Shape;116;p1"/>
            <p:cNvSpPr/>
            <p:nvPr/>
          </p:nvSpPr>
          <p:spPr>
            <a:xfrm>
              <a:off x="6684840" y="2975400"/>
              <a:ext cx="70920" cy="90720"/>
            </a:xfrm>
            <a:custGeom>
              <a:rect b="b" l="l" r="r" t="t"/>
              <a:pathLst>
                <a:path extrusionOk="0" h="2867" w="2247">
                  <a:moveTo>
                    <a:pt x="1114" y="0"/>
                  </a:moveTo>
                  <a:cubicBezTo>
                    <a:pt x="968" y="0"/>
                    <a:pt x="804" y="0"/>
                    <a:pt x="658" y="18"/>
                  </a:cubicBezTo>
                  <a:cubicBezTo>
                    <a:pt x="494" y="18"/>
                    <a:pt x="330" y="55"/>
                    <a:pt x="183" y="110"/>
                  </a:cubicBezTo>
                  <a:cubicBezTo>
                    <a:pt x="74" y="256"/>
                    <a:pt x="1" y="438"/>
                    <a:pt x="1" y="639"/>
                  </a:cubicBezTo>
                  <a:cubicBezTo>
                    <a:pt x="37" y="822"/>
                    <a:pt x="92" y="1004"/>
                    <a:pt x="147" y="1168"/>
                  </a:cubicBezTo>
                  <a:cubicBezTo>
                    <a:pt x="293" y="1734"/>
                    <a:pt x="439" y="2300"/>
                    <a:pt x="585" y="2866"/>
                  </a:cubicBezTo>
                  <a:lnTo>
                    <a:pt x="1717" y="2848"/>
                  </a:lnTo>
                  <a:cubicBezTo>
                    <a:pt x="1717" y="2830"/>
                    <a:pt x="1735" y="2793"/>
                    <a:pt x="1735" y="2757"/>
                  </a:cubicBezTo>
                  <a:cubicBezTo>
                    <a:pt x="1863" y="2264"/>
                    <a:pt x="2009" y="1753"/>
                    <a:pt x="2137" y="1241"/>
                  </a:cubicBezTo>
                  <a:cubicBezTo>
                    <a:pt x="2192" y="1059"/>
                    <a:pt x="2228" y="895"/>
                    <a:pt x="2246" y="712"/>
                  </a:cubicBezTo>
                  <a:cubicBezTo>
                    <a:pt x="2173" y="511"/>
                    <a:pt x="2045" y="310"/>
                    <a:pt x="1918" y="146"/>
                  </a:cubicBezTo>
                  <a:cubicBezTo>
                    <a:pt x="1772" y="18"/>
                    <a:pt x="1352" y="0"/>
                    <a:pt x="1114" y="0"/>
                  </a:cubicBezTo>
                  <a:close/>
                </a:path>
              </a:pathLst>
            </a:custGeom>
            <a:solidFill>
              <a:schemeClr val="accent2"/>
            </a:solidFill>
            <a:ln>
              <a:noFill/>
            </a:ln>
          </p:spPr>
          <p:txBody>
            <a:bodyPr anchorCtr="0" anchor="ctr" bIns="42200" lIns="85050" spcFirstLastPara="1" rIns="85050" wrap="square" tIns="4220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17" name="Google Shape;117;p1"/>
            <p:cNvSpPr/>
            <p:nvPr/>
          </p:nvSpPr>
          <p:spPr>
            <a:xfrm>
              <a:off x="6684120" y="2539800"/>
              <a:ext cx="82080" cy="458280"/>
            </a:xfrm>
            <a:custGeom>
              <a:rect b="b" l="l" r="r" t="t"/>
              <a:pathLst>
                <a:path extrusionOk="0" h="14441" w="2593">
                  <a:moveTo>
                    <a:pt x="1863" y="14002"/>
                  </a:moveTo>
                  <a:cubicBezTo>
                    <a:pt x="1735" y="14130"/>
                    <a:pt x="1607" y="14239"/>
                    <a:pt x="1461" y="14331"/>
                  </a:cubicBezTo>
                  <a:cubicBezTo>
                    <a:pt x="1352" y="14203"/>
                    <a:pt x="1242" y="14057"/>
                    <a:pt x="1151" y="13911"/>
                  </a:cubicBezTo>
                  <a:cubicBezTo>
                    <a:pt x="1023" y="13966"/>
                    <a:pt x="950" y="14203"/>
                    <a:pt x="767" y="14294"/>
                  </a:cubicBezTo>
                  <a:cubicBezTo>
                    <a:pt x="658" y="14166"/>
                    <a:pt x="548" y="14057"/>
                    <a:pt x="439" y="13929"/>
                  </a:cubicBezTo>
                  <a:cubicBezTo>
                    <a:pt x="274" y="14039"/>
                    <a:pt x="238" y="14294"/>
                    <a:pt x="55" y="14349"/>
                  </a:cubicBezTo>
                  <a:cubicBezTo>
                    <a:pt x="1" y="14057"/>
                    <a:pt x="1" y="13747"/>
                    <a:pt x="37" y="13455"/>
                  </a:cubicBezTo>
                  <a:cubicBezTo>
                    <a:pt x="165" y="9000"/>
                    <a:pt x="238" y="4473"/>
                    <a:pt x="384" y="1"/>
                  </a:cubicBezTo>
                  <a:cubicBezTo>
                    <a:pt x="1132" y="1"/>
                    <a:pt x="1844" y="19"/>
                    <a:pt x="2556" y="55"/>
                  </a:cubicBezTo>
                  <a:cubicBezTo>
                    <a:pt x="2593" y="183"/>
                    <a:pt x="2593" y="329"/>
                    <a:pt x="2575" y="475"/>
                  </a:cubicBezTo>
                  <a:cubicBezTo>
                    <a:pt x="2465" y="4747"/>
                    <a:pt x="2392" y="9146"/>
                    <a:pt x="2283" y="13455"/>
                  </a:cubicBezTo>
                  <a:cubicBezTo>
                    <a:pt x="2283" y="13783"/>
                    <a:pt x="2283" y="14112"/>
                    <a:pt x="2246" y="14422"/>
                  </a:cubicBezTo>
                  <a:cubicBezTo>
                    <a:pt x="2082" y="14440"/>
                    <a:pt x="1990" y="14130"/>
                    <a:pt x="1863" y="14002"/>
                  </a:cubicBezTo>
                  <a:close/>
                </a:path>
              </a:pathLst>
            </a:custGeom>
            <a:solidFill>
              <a:schemeClr val="dk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18" name="Google Shape;118;p1"/>
            <p:cNvSpPr/>
            <p:nvPr/>
          </p:nvSpPr>
          <p:spPr>
            <a:xfrm>
              <a:off x="6696720" y="2491920"/>
              <a:ext cx="70920" cy="54720"/>
            </a:xfrm>
            <a:custGeom>
              <a:rect b="b" l="l" r="r" t="t"/>
              <a:pathLst>
                <a:path extrusionOk="0" h="1735" w="2246">
                  <a:moveTo>
                    <a:pt x="2173" y="1607"/>
                  </a:moveTo>
                  <a:cubicBezTo>
                    <a:pt x="1369" y="1735"/>
                    <a:pt x="730" y="1570"/>
                    <a:pt x="19" y="1534"/>
                  </a:cubicBezTo>
                  <a:cubicBezTo>
                    <a:pt x="0" y="1096"/>
                    <a:pt x="219" y="694"/>
                    <a:pt x="584" y="457"/>
                  </a:cubicBezTo>
                  <a:cubicBezTo>
                    <a:pt x="1388" y="0"/>
                    <a:pt x="2246" y="658"/>
                    <a:pt x="2173" y="1607"/>
                  </a:cubicBezTo>
                  <a:close/>
                </a:path>
              </a:pathLst>
            </a:custGeom>
            <a:solidFill>
              <a:schemeClr val="accent4"/>
            </a:solidFill>
            <a:ln>
              <a:noFill/>
            </a:ln>
          </p:spPr>
          <p:txBody>
            <a:bodyPr anchorCtr="0" anchor="ctr" bIns="25450" lIns="85050" spcFirstLastPara="1" rIns="85050" wrap="square" tIns="254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19" name="Google Shape;119;p1"/>
            <p:cNvSpPr/>
            <p:nvPr/>
          </p:nvSpPr>
          <p:spPr>
            <a:xfrm>
              <a:off x="6688080" y="2539440"/>
              <a:ext cx="83880" cy="70560"/>
            </a:xfrm>
            <a:custGeom>
              <a:rect b="b" l="l" r="r" t="t"/>
              <a:pathLst>
                <a:path extrusionOk="0" h="2228" w="2648">
                  <a:moveTo>
                    <a:pt x="183" y="2191"/>
                  </a:moveTo>
                  <a:cubicBezTo>
                    <a:pt x="201" y="1990"/>
                    <a:pt x="165" y="1808"/>
                    <a:pt x="73" y="1643"/>
                  </a:cubicBezTo>
                  <a:cubicBezTo>
                    <a:pt x="73" y="1552"/>
                    <a:pt x="146" y="1479"/>
                    <a:pt x="183" y="1388"/>
                  </a:cubicBezTo>
                  <a:cubicBezTo>
                    <a:pt x="0" y="1169"/>
                    <a:pt x="201" y="1004"/>
                    <a:pt x="201" y="840"/>
                  </a:cubicBezTo>
                  <a:cubicBezTo>
                    <a:pt x="201" y="767"/>
                    <a:pt x="146" y="694"/>
                    <a:pt x="146" y="639"/>
                  </a:cubicBezTo>
                  <a:cubicBezTo>
                    <a:pt x="146" y="511"/>
                    <a:pt x="220" y="457"/>
                    <a:pt x="238" y="329"/>
                  </a:cubicBezTo>
                  <a:cubicBezTo>
                    <a:pt x="256" y="219"/>
                    <a:pt x="183" y="146"/>
                    <a:pt x="238" y="55"/>
                  </a:cubicBezTo>
                  <a:cubicBezTo>
                    <a:pt x="603" y="0"/>
                    <a:pt x="986" y="0"/>
                    <a:pt x="1370" y="55"/>
                  </a:cubicBezTo>
                  <a:cubicBezTo>
                    <a:pt x="1735" y="55"/>
                    <a:pt x="2100" y="73"/>
                    <a:pt x="2483" y="110"/>
                  </a:cubicBezTo>
                  <a:cubicBezTo>
                    <a:pt x="2647" y="329"/>
                    <a:pt x="2501" y="566"/>
                    <a:pt x="2501" y="767"/>
                  </a:cubicBezTo>
                  <a:cubicBezTo>
                    <a:pt x="2501" y="895"/>
                    <a:pt x="2556" y="1004"/>
                    <a:pt x="2556" y="1132"/>
                  </a:cubicBezTo>
                  <a:cubicBezTo>
                    <a:pt x="2556" y="1315"/>
                    <a:pt x="2392" y="1479"/>
                    <a:pt x="2556" y="1771"/>
                  </a:cubicBezTo>
                  <a:cubicBezTo>
                    <a:pt x="2520" y="1917"/>
                    <a:pt x="2374" y="2008"/>
                    <a:pt x="2410" y="2191"/>
                  </a:cubicBezTo>
                  <a:cubicBezTo>
                    <a:pt x="2392" y="2209"/>
                    <a:pt x="2374" y="2227"/>
                    <a:pt x="2374" y="2209"/>
                  </a:cubicBezTo>
                  <a:cubicBezTo>
                    <a:pt x="1643" y="2209"/>
                    <a:pt x="895" y="2227"/>
                    <a:pt x="183" y="2191"/>
                  </a:cubicBezTo>
                  <a:close/>
                </a:path>
              </a:pathLst>
            </a:custGeom>
            <a:solidFill>
              <a:schemeClr val="lt2"/>
            </a:solidFill>
            <a:ln>
              <a:noFill/>
            </a:ln>
          </p:spPr>
          <p:txBody>
            <a:bodyPr anchorCtr="0" anchor="ctr" bIns="32825" lIns="85050" spcFirstLastPara="1" rIns="85050" wrap="square" tIns="3282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0" name="Google Shape;120;p1"/>
            <p:cNvSpPr/>
            <p:nvPr/>
          </p:nvSpPr>
          <p:spPr>
            <a:xfrm>
              <a:off x="7128360" y="3237840"/>
              <a:ext cx="138240" cy="147240"/>
            </a:xfrm>
            <a:custGeom>
              <a:rect b="b" l="l" r="r" t="t"/>
              <a:pathLst>
                <a:path extrusionOk="0" h="4643" w="4360">
                  <a:moveTo>
                    <a:pt x="3275" y="0"/>
                  </a:moveTo>
                  <a:cubicBezTo>
                    <a:pt x="3119" y="0"/>
                    <a:pt x="2971" y="73"/>
                    <a:pt x="2880" y="209"/>
                  </a:cubicBezTo>
                  <a:lnTo>
                    <a:pt x="1146" y="2765"/>
                  </a:lnTo>
                  <a:cubicBezTo>
                    <a:pt x="1128" y="2802"/>
                    <a:pt x="1110" y="2820"/>
                    <a:pt x="1091" y="2856"/>
                  </a:cubicBezTo>
                  <a:lnTo>
                    <a:pt x="562" y="2510"/>
                  </a:lnTo>
                  <a:cubicBezTo>
                    <a:pt x="506" y="2464"/>
                    <a:pt x="448" y="2445"/>
                    <a:pt x="394" y="2445"/>
                  </a:cubicBezTo>
                  <a:cubicBezTo>
                    <a:pt x="167" y="2445"/>
                    <a:pt x="1" y="2786"/>
                    <a:pt x="252" y="2948"/>
                  </a:cubicBezTo>
                  <a:lnTo>
                    <a:pt x="252" y="2929"/>
                  </a:lnTo>
                  <a:lnTo>
                    <a:pt x="2680" y="4591"/>
                  </a:lnTo>
                  <a:cubicBezTo>
                    <a:pt x="2732" y="4627"/>
                    <a:pt x="2785" y="4642"/>
                    <a:pt x="2835" y="4642"/>
                  </a:cubicBezTo>
                  <a:cubicBezTo>
                    <a:pt x="3063" y="4642"/>
                    <a:pt x="3230" y="4317"/>
                    <a:pt x="2990" y="4153"/>
                  </a:cubicBezTo>
                  <a:lnTo>
                    <a:pt x="2406" y="3751"/>
                  </a:lnTo>
                  <a:cubicBezTo>
                    <a:pt x="2442" y="3714"/>
                    <a:pt x="2460" y="3696"/>
                    <a:pt x="2479" y="3660"/>
                  </a:cubicBezTo>
                  <a:lnTo>
                    <a:pt x="4213" y="1122"/>
                  </a:lnTo>
                  <a:cubicBezTo>
                    <a:pt x="4359" y="903"/>
                    <a:pt x="4304" y="593"/>
                    <a:pt x="4085" y="429"/>
                  </a:cubicBezTo>
                  <a:lnTo>
                    <a:pt x="3556" y="82"/>
                  </a:lnTo>
                  <a:cubicBezTo>
                    <a:pt x="3466" y="27"/>
                    <a:pt x="3369" y="0"/>
                    <a:pt x="3275" y="0"/>
                  </a:cubicBezTo>
                  <a:close/>
                </a:path>
              </a:pathLst>
            </a:custGeom>
            <a:solidFill>
              <a:schemeClr val="dk1"/>
            </a:solidFill>
            <a:ln>
              <a:noFill/>
            </a:ln>
          </p:spPr>
          <p:txBody>
            <a:bodyPr anchorCtr="0" anchor="ctr" bIns="68650" lIns="85050" spcFirstLastPara="1" rIns="85050" wrap="square" tIns="686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1" name="Google Shape;121;p1"/>
            <p:cNvSpPr/>
            <p:nvPr/>
          </p:nvSpPr>
          <p:spPr>
            <a:xfrm>
              <a:off x="7164360" y="3189960"/>
              <a:ext cx="167760" cy="115920"/>
            </a:xfrm>
            <a:custGeom>
              <a:rect b="b" l="l" r="r" t="t"/>
              <a:pathLst>
                <a:path extrusionOk="0" h="3666" w="5293">
                  <a:moveTo>
                    <a:pt x="571" y="1"/>
                  </a:moveTo>
                  <a:cubicBezTo>
                    <a:pt x="161" y="1"/>
                    <a:pt x="1" y="556"/>
                    <a:pt x="390" y="751"/>
                  </a:cubicBezTo>
                  <a:lnTo>
                    <a:pt x="2453" y="2157"/>
                  </a:lnTo>
                  <a:lnTo>
                    <a:pt x="4534" y="3562"/>
                  </a:lnTo>
                  <a:cubicBezTo>
                    <a:pt x="4615" y="3634"/>
                    <a:pt x="4705" y="3665"/>
                    <a:pt x="4792" y="3665"/>
                  </a:cubicBezTo>
                  <a:cubicBezTo>
                    <a:pt x="5057" y="3665"/>
                    <a:pt x="5293" y="3376"/>
                    <a:pt x="5155" y="3088"/>
                  </a:cubicBezTo>
                  <a:cubicBezTo>
                    <a:pt x="4443" y="1390"/>
                    <a:pt x="4133" y="897"/>
                    <a:pt x="3585" y="514"/>
                  </a:cubicBezTo>
                  <a:cubicBezTo>
                    <a:pt x="3019" y="130"/>
                    <a:pt x="2453" y="21"/>
                    <a:pt x="610" y="2"/>
                  </a:cubicBezTo>
                  <a:cubicBezTo>
                    <a:pt x="596" y="1"/>
                    <a:pt x="583" y="1"/>
                    <a:pt x="571" y="1"/>
                  </a:cubicBezTo>
                  <a:close/>
                </a:path>
              </a:pathLst>
            </a:custGeom>
            <a:solidFill>
              <a:schemeClr val="dk1"/>
            </a:solidFill>
            <a:ln>
              <a:noFill/>
            </a:ln>
          </p:spPr>
          <p:txBody>
            <a:bodyPr anchorCtr="0" anchor="ctr" bIns="53925" lIns="85050" spcFirstLastPara="1" rIns="85050" wrap="square" tIns="5392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2" name="Google Shape;122;p1"/>
            <p:cNvSpPr/>
            <p:nvPr/>
          </p:nvSpPr>
          <p:spPr>
            <a:xfrm>
              <a:off x="7520760" y="2718720"/>
              <a:ext cx="103320" cy="104760"/>
            </a:xfrm>
            <a:custGeom>
              <a:rect b="b" l="l" r="r" t="t"/>
              <a:pathLst>
                <a:path extrusionOk="0" h="3312" w="3269">
                  <a:moveTo>
                    <a:pt x="1651" y="1"/>
                  </a:moveTo>
                  <a:cubicBezTo>
                    <a:pt x="1499" y="1"/>
                    <a:pt x="1351" y="74"/>
                    <a:pt x="1260" y="210"/>
                  </a:cubicBezTo>
                  <a:lnTo>
                    <a:pt x="165" y="1835"/>
                  </a:lnTo>
                  <a:cubicBezTo>
                    <a:pt x="1" y="2054"/>
                    <a:pt x="56" y="2346"/>
                    <a:pt x="293" y="2492"/>
                  </a:cubicBezTo>
                  <a:lnTo>
                    <a:pt x="1352" y="3222"/>
                  </a:lnTo>
                  <a:cubicBezTo>
                    <a:pt x="1433" y="3284"/>
                    <a:pt x="1525" y="3312"/>
                    <a:pt x="1617" y="3312"/>
                  </a:cubicBezTo>
                  <a:cubicBezTo>
                    <a:pt x="1771" y="3312"/>
                    <a:pt x="1924" y="3232"/>
                    <a:pt x="2027" y="3094"/>
                  </a:cubicBezTo>
                  <a:lnTo>
                    <a:pt x="3122" y="1488"/>
                  </a:lnTo>
                  <a:cubicBezTo>
                    <a:pt x="3268" y="1269"/>
                    <a:pt x="3214" y="959"/>
                    <a:pt x="2995" y="813"/>
                  </a:cubicBezTo>
                  <a:lnTo>
                    <a:pt x="1918" y="82"/>
                  </a:lnTo>
                  <a:cubicBezTo>
                    <a:pt x="1835" y="27"/>
                    <a:pt x="1742" y="1"/>
                    <a:pt x="1651" y="1"/>
                  </a:cubicBezTo>
                  <a:close/>
                </a:path>
              </a:pathLst>
            </a:custGeom>
            <a:solidFill>
              <a:schemeClr val="dk1"/>
            </a:solidFill>
            <a:ln>
              <a:noFill/>
            </a:ln>
          </p:spPr>
          <p:txBody>
            <a:bodyPr anchorCtr="0" anchor="ctr" bIns="48900" lIns="85050" spcFirstLastPara="1" rIns="85050" wrap="square" tIns="4890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3" name="Google Shape;123;p1"/>
            <p:cNvSpPr/>
            <p:nvPr/>
          </p:nvSpPr>
          <p:spPr>
            <a:xfrm>
              <a:off x="7577640" y="2689200"/>
              <a:ext cx="57600" cy="61200"/>
            </a:xfrm>
            <a:custGeom>
              <a:rect b="b" l="l" r="r" t="t"/>
              <a:pathLst>
                <a:path extrusionOk="0" h="1942" w="1827">
                  <a:moveTo>
                    <a:pt x="1247" y="0"/>
                  </a:moveTo>
                  <a:cubicBezTo>
                    <a:pt x="1176" y="0"/>
                    <a:pt x="1103" y="24"/>
                    <a:pt x="1041" y="65"/>
                  </a:cubicBezTo>
                  <a:lnTo>
                    <a:pt x="1041" y="83"/>
                  </a:lnTo>
                  <a:lnTo>
                    <a:pt x="92" y="1014"/>
                  </a:lnTo>
                  <a:cubicBezTo>
                    <a:pt x="1" y="1160"/>
                    <a:pt x="37" y="1343"/>
                    <a:pt x="183" y="1434"/>
                  </a:cubicBezTo>
                  <a:lnTo>
                    <a:pt x="840" y="1891"/>
                  </a:lnTo>
                  <a:cubicBezTo>
                    <a:pt x="896" y="1925"/>
                    <a:pt x="956" y="1941"/>
                    <a:pt x="1015" y="1941"/>
                  </a:cubicBezTo>
                  <a:cubicBezTo>
                    <a:pt x="1111" y="1941"/>
                    <a:pt x="1204" y="1897"/>
                    <a:pt x="1260" y="1818"/>
                  </a:cubicBezTo>
                  <a:cubicBezTo>
                    <a:pt x="1260" y="1818"/>
                    <a:pt x="1790" y="613"/>
                    <a:pt x="1790" y="595"/>
                  </a:cubicBezTo>
                  <a:cubicBezTo>
                    <a:pt x="1826" y="467"/>
                    <a:pt x="1790" y="321"/>
                    <a:pt x="1680" y="248"/>
                  </a:cubicBezTo>
                  <a:lnTo>
                    <a:pt x="1406" y="47"/>
                  </a:lnTo>
                  <a:cubicBezTo>
                    <a:pt x="1358" y="15"/>
                    <a:pt x="1303" y="0"/>
                    <a:pt x="1247" y="0"/>
                  </a:cubicBezTo>
                  <a:close/>
                </a:path>
              </a:pathLst>
            </a:custGeom>
            <a:solidFill>
              <a:schemeClr val="dk1"/>
            </a:solidFill>
            <a:ln>
              <a:noFill/>
            </a:ln>
          </p:spPr>
          <p:txBody>
            <a:bodyPr anchorCtr="0" anchor="ctr" bIns="28475" lIns="85050" spcFirstLastPara="1" rIns="85050" wrap="square" tIns="2847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4" name="Google Shape;124;p1"/>
            <p:cNvSpPr/>
            <p:nvPr/>
          </p:nvSpPr>
          <p:spPr>
            <a:xfrm>
              <a:off x="7621560" y="2542680"/>
              <a:ext cx="108720" cy="155880"/>
            </a:xfrm>
            <a:custGeom>
              <a:rect b="b" l="l" r="r" t="t"/>
              <a:pathLst>
                <a:path extrusionOk="0" h="4917" w="3429">
                  <a:moveTo>
                    <a:pt x="3355" y="1"/>
                  </a:moveTo>
                  <a:cubicBezTo>
                    <a:pt x="3349" y="1"/>
                    <a:pt x="3344" y="2"/>
                    <a:pt x="3341" y="6"/>
                  </a:cubicBezTo>
                  <a:lnTo>
                    <a:pt x="0" y="4770"/>
                  </a:lnTo>
                  <a:lnTo>
                    <a:pt x="219" y="4916"/>
                  </a:lnTo>
                  <a:lnTo>
                    <a:pt x="3414" y="61"/>
                  </a:lnTo>
                  <a:cubicBezTo>
                    <a:pt x="3429" y="31"/>
                    <a:pt x="3383" y="1"/>
                    <a:pt x="3355" y="1"/>
                  </a:cubicBezTo>
                  <a:close/>
                </a:path>
              </a:pathLst>
            </a:custGeom>
            <a:solidFill>
              <a:schemeClr val="dk1"/>
            </a:solidFill>
            <a:ln>
              <a:noFill/>
            </a:ln>
          </p:spPr>
          <p:txBody>
            <a:bodyPr anchorCtr="0" anchor="ctr" bIns="72675" lIns="85050" spcFirstLastPara="1" rIns="85050" wrap="square" tIns="7267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5" name="Google Shape;125;p1"/>
            <p:cNvSpPr/>
            <p:nvPr/>
          </p:nvSpPr>
          <p:spPr>
            <a:xfrm>
              <a:off x="7618680" y="2687760"/>
              <a:ext cx="16560" cy="11880"/>
            </a:xfrm>
            <a:custGeom>
              <a:rect b="b" l="l" r="r" t="t"/>
              <a:pathLst>
                <a:path extrusionOk="0" h="385" w="530">
                  <a:moveTo>
                    <a:pt x="122" y="1"/>
                  </a:moveTo>
                  <a:cubicBezTo>
                    <a:pt x="84" y="1"/>
                    <a:pt x="49" y="21"/>
                    <a:pt x="37" y="56"/>
                  </a:cubicBezTo>
                  <a:cubicBezTo>
                    <a:pt x="1" y="93"/>
                    <a:pt x="1" y="166"/>
                    <a:pt x="56" y="202"/>
                  </a:cubicBezTo>
                  <a:lnTo>
                    <a:pt x="311" y="367"/>
                  </a:lnTo>
                  <a:cubicBezTo>
                    <a:pt x="334" y="379"/>
                    <a:pt x="355" y="385"/>
                    <a:pt x="376" y="385"/>
                  </a:cubicBezTo>
                  <a:cubicBezTo>
                    <a:pt x="471" y="385"/>
                    <a:pt x="529" y="263"/>
                    <a:pt x="439" y="202"/>
                  </a:cubicBezTo>
                  <a:lnTo>
                    <a:pt x="183" y="20"/>
                  </a:lnTo>
                  <a:cubicBezTo>
                    <a:pt x="164" y="7"/>
                    <a:pt x="142" y="1"/>
                    <a:pt x="122" y="1"/>
                  </a:cubicBezTo>
                  <a:close/>
                </a:path>
              </a:pathLst>
            </a:custGeom>
            <a:solidFill>
              <a:srgbClr val="334F70"/>
            </a:solidFill>
            <a:ln>
              <a:noFill/>
            </a:ln>
          </p:spPr>
          <p:txBody>
            <a:bodyPr anchorCtr="0" anchor="ctr" bIns="5675" lIns="85050" spcFirstLastPara="1" rIns="85050" wrap="square" tIns="567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6" name="Google Shape;126;p1"/>
            <p:cNvSpPr/>
            <p:nvPr/>
          </p:nvSpPr>
          <p:spPr>
            <a:xfrm>
              <a:off x="7507440" y="2795760"/>
              <a:ext cx="63000" cy="53640"/>
            </a:xfrm>
            <a:custGeom>
              <a:rect b="b" l="l" r="r" t="t"/>
              <a:pathLst>
                <a:path extrusionOk="0" h="1698" w="1991">
                  <a:moveTo>
                    <a:pt x="457" y="0"/>
                  </a:moveTo>
                  <a:lnTo>
                    <a:pt x="1" y="657"/>
                  </a:lnTo>
                  <a:lnTo>
                    <a:pt x="1534" y="1698"/>
                  </a:lnTo>
                  <a:lnTo>
                    <a:pt x="1991" y="1041"/>
                  </a:lnTo>
                  <a:lnTo>
                    <a:pt x="457" y="0"/>
                  </a:lnTo>
                  <a:close/>
                </a:path>
              </a:pathLst>
            </a:custGeom>
            <a:solidFill>
              <a:schemeClr val="dk1"/>
            </a:solidFill>
            <a:ln>
              <a:noFill/>
            </a:ln>
          </p:spPr>
          <p:txBody>
            <a:bodyPr anchorCtr="0" anchor="ctr" bIns="25100" lIns="85050" spcFirstLastPara="1" rIns="85050" wrap="square" tIns="2510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7" name="Google Shape;127;p1"/>
            <p:cNvSpPr/>
            <p:nvPr/>
          </p:nvSpPr>
          <p:spPr>
            <a:xfrm>
              <a:off x="7499880" y="2773800"/>
              <a:ext cx="99000" cy="69120"/>
            </a:xfrm>
            <a:custGeom>
              <a:rect b="b" l="l" r="r" t="t"/>
              <a:pathLst>
                <a:path extrusionOk="0" h="2184" w="3125">
                  <a:moveTo>
                    <a:pt x="311" y="0"/>
                  </a:moveTo>
                  <a:cubicBezTo>
                    <a:pt x="225" y="0"/>
                    <a:pt x="137" y="45"/>
                    <a:pt x="92" y="124"/>
                  </a:cubicBezTo>
                  <a:cubicBezTo>
                    <a:pt x="1" y="234"/>
                    <a:pt x="37" y="398"/>
                    <a:pt x="165" y="489"/>
                  </a:cubicBezTo>
                  <a:lnTo>
                    <a:pt x="2593" y="2132"/>
                  </a:lnTo>
                  <a:cubicBezTo>
                    <a:pt x="2645" y="2168"/>
                    <a:pt x="2697" y="2184"/>
                    <a:pt x="2746" y="2184"/>
                  </a:cubicBezTo>
                  <a:cubicBezTo>
                    <a:pt x="2971" y="2184"/>
                    <a:pt x="3125" y="1859"/>
                    <a:pt x="2885" y="1694"/>
                  </a:cubicBezTo>
                  <a:lnTo>
                    <a:pt x="457" y="51"/>
                  </a:lnTo>
                  <a:cubicBezTo>
                    <a:pt x="416" y="17"/>
                    <a:pt x="364" y="0"/>
                    <a:pt x="311" y="0"/>
                  </a:cubicBezTo>
                  <a:close/>
                </a:path>
              </a:pathLst>
            </a:custGeom>
            <a:solidFill>
              <a:schemeClr val="dk1"/>
            </a:solidFill>
            <a:ln>
              <a:noFill/>
            </a:ln>
          </p:spPr>
          <p:txBody>
            <a:bodyPr anchorCtr="0" anchor="ctr" bIns="32150" lIns="85050" spcFirstLastPara="1" rIns="85050" wrap="square" tIns="321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28" name="Google Shape;128;p1"/>
            <p:cNvSpPr/>
            <p:nvPr/>
          </p:nvSpPr>
          <p:spPr>
            <a:xfrm>
              <a:off x="7225560" y="2804040"/>
              <a:ext cx="349920" cy="448920"/>
            </a:xfrm>
            <a:custGeom>
              <a:rect b="b" l="l" r="r" t="t"/>
              <a:pathLst>
                <a:path extrusionOk="0" h="14141" w="11027">
                  <a:moveTo>
                    <a:pt x="8540" y="1"/>
                  </a:moveTo>
                  <a:cubicBezTo>
                    <a:pt x="8361" y="1"/>
                    <a:pt x="8183" y="89"/>
                    <a:pt x="8070" y="248"/>
                  </a:cubicBezTo>
                  <a:lnTo>
                    <a:pt x="1" y="12205"/>
                  </a:lnTo>
                  <a:lnTo>
                    <a:pt x="2776" y="14140"/>
                  </a:lnTo>
                  <a:lnTo>
                    <a:pt x="10863" y="2147"/>
                  </a:lnTo>
                  <a:cubicBezTo>
                    <a:pt x="11027" y="1873"/>
                    <a:pt x="10972" y="1526"/>
                    <a:pt x="10717" y="1362"/>
                  </a:cubicBezTo>
                  <a:lnTo>
                    <a:pt x="8855" y="102"/>
                  </a:lnTo>
                  <a:cubicBezTo>
                    <a:pt x="8758" y="33"/>
                    <a:pt x="8649" y="1"/>
                    <a:pt x="8540" y="1"/>
                  </a:cubicBezTo>
                  <a:close/>
                </a:path>
              </a:pathLst>
            </a:custGeom>
            <a:solidFill>
              <a:schemeClr val="accen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29" name="Google Shape;129;p1"/>
            <p:cNvSpPr/>
            <p:nvPr/>
          </p:nvSpPr>
          <p:spPr>
            <a:xfrm>
              <a:off x="7412760" y="2804040"/>
              <a:ext cx="162720" cy="169200"/>
            </a:xfrm>
            <a:custGeom>
              <a:rect b="b" l="l" r="r" t="t"/>
              <a:pathLst>
                <a:path extrusionOk="0" h="5342" w="5130">
                  <a:moveTo>
                    <a:pt x="2638" y="1"/>
                  </a:moveTo>
                  <a:cubicBezTo>
                    <a:pt x="2455" y="1"/>
                    <a:pt x="2275" y="89"/>
                    <a:pt x="2173" y="248"/>
                  </a:cubicBezTo>
                  <a:lnTo>
                    <a:pt x="0" y="3461"/>
                  </a:lnTo>
                  <a:lnTo>
                    <a:pt x="2812" y="5341"/>
                  </a:lnTo>
                  <a:lnTo>
                    <a:pt x="4966" y="2147"/>
                  </a:lnTo>
                  <a:cubicBezTo>
                    <a:pt x="5130" y="1891"/>
                    <a:pt x="5057" y="1544"/>
                    <a:pt x="4801" y="1362"/>
                  </a:cubicBezTo>
                  <a:lnTo>
                    <a:pt x="2958" y="102"/>
                  </a:lnTo>
                  <a:cubicBezTo>
                    <a:pt x="2861" y="33"/>
                    <a:pt x="2749" y="1"/>
                    <a:pt x="2638" y="1"/>
                  </a:cubicBezTo>
                  <a:close/>
                </a:path>
              </a:pathLst>
            </a:custGeom>
            <a:solidFill>
              <a:schemeClr val="accent5"/>
            </a:solidFill>
            <a:ln>
              <a:noFill/>
            </a:ln>
          </p:spPr>
          <p:txBody>
            <a:bodyPr anchorCtr="0" anchor="ctr" bIns="78725" lIns="85050" spcFirstLastPara="1" rIns="85050" wrap="square" tIns="7872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30" name="Google Shape;130;p1"/>
            <p:cNvSpPr/>
            <p:nvPr/>
          </p:nvSpPr>
          <p:spPr>
            <a:xfrm>
              <a:off x="7517160" y="2873520"/>
              <a:ext cx="37800" cy="29160"/>
            </a:xfrm>
            <a:custGeom>
              <a:rect b="b" l="l" r="r" t="t"/>
              <a:pathLst>
                <a:path extrusionOk="0" h="929" w="1206">
                  <a:moveTo>
                    <a:pt x="171" y="1"/>
                  </a:moveTo>
                  <a:cubicBezTo>
                    <a:pt x="122" y="1"/>
                    <a:pt x="76" y="20"/>
                    <a:pt x="55" y="52"/>
                  </a:cubicBezTo>
                  <a:cubicBezTo>
                    <a:pt x="0" y="125"/>
                    <a:pt x="18" y="235"/>
                    <a:pt x="91" y="289"/>
                  </a:cubicBezTo>
                  <a:lnTo>
                    <a:pt x="1022" y="928"/>
                  </a:lnTo>
                  <a:lnTo>
                    <a:pt x="1205" y="673"/>
                  </a:lnTo>
                  <a:lnTo>
                    <a:pt x="274" y="34"/>
                  </a:lnTo>
                  <a:cubicBezTo>
                    <a:pt x="243" y="11"/>
                    <a:pt x="206" y="1"/>
                    <a:pt x="171" y="1"/>
                  </a:cubicBezTo>
                  <a:close/>
                </a:path>
              </a:pathLst>
            </a:custGeom>
            <a:solidFill>
              <a:schemeClr val="dk1"/>
            </a:solidFill>
            <a:ln>
              <a:noFill/>
            </a:ln>
          </p:spPr>
          <p:txBody>
            <a:bodyPr anchorCtr="0" anchor="ctr" bIns="13725" lIns="85050" spcFirstLastPara="1" rIns="85050" wrap="square" tIns="1372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31" name="Google Shape;131;p1"/>
            <p:cNvSpPr/>
            <p:nvPr/>
          </p:nvSpPr>
          <p:spPr>
            <a:xfrm>
              <a:off x="7486920" y="2917440"/>
              <a:ext cx="37800" cy="29160"/>
            </a:xfrm>
            <a:custGeom>
              <a:rect b="b" l="l" r="r" t="t"/>
              <a:pathLst>
                <a:path extrusionOk="0" h="927" w="1206">
                  <a:moveTo>
                    <a:pt x="178" y="0"/>
                  </a:moveTo>
                  <a:cubicBezTo>
                    <a:pt x="127" y="0"/>
                    <a:pt x="78" y="24"/>
                    <a:pt x="56" y="69"/>
                  </a:cubicBezTo>
                  <a:cubicBezTo>
                    <a:pt x="1" y="142"/>
                    <a:pt x="19" y="233"/>
                    <a:pt x="92" y="288"/>
                  </a:cubicBezTo>
                  <a:lnTo>
                    <a:pt x="1041" y="927"/>
                  </a:lnTo>
                  <a:lnTo>
                    <a:pt x="1206" y="671"/>
                  </a:lnTo>
                  <a:lnTo>
                    <a:pt x="275" y="32"/>
                  </a:lnTo>
                  <a:cubicBezTo>
                    <a:pt x="246" y="10"/>
                    <a:pt x="211" y="0"/>
                    <a:pt x="178" y="0"/>
                  </a:cubicBezTo>
                  <a:close/>
                </a:path>
              </a:pathLst>
            </a:custGeom>
            <a:solidFill>
              <a:schemeClr val="dk1"/>
            </a:solidFill>
            <a:ln>
              <a:noFill/>
            </a:ln>
          </p:spPr>
          <p:txBody>
            <a:bodyPr anchorCtr="0" anchor="ctr" bIns="13725" lIns="85050" spcFirstLastPara="1" rIns="85050" wrap="square" tIns="1372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32" name="Google Shape;132;p1"/>
            <p:cNvSpPr/>
            <p:nvPr/>
          </p:nvSpPr>
          <p:spPr>
            <a:xfrm>
              <a:off x="7457040" y="2961000"/>
              <a:ext cx="37800" cy="29520"/>
            </a:xfrm>
            <a:custGeom>
              <a:rect b="b" l="l" r="r" t="t"/>
              <a:pathLst>
                <a:path extrusionOk="0" h="944" w="1206">
                  <a:moveTo>
                    <a:pt x="183" y="0"/>
                  </a:moveTo>
                  <a:cubicBezTo>
                    <a:pt x="130" y="0"/>
                    <a:pt x="78" y="29"/>
                    <a:pt x="55" y="86"/>
                  </a:cubicBezTo>
                  <a:cubicBezTo>
                    <a:pt x="1" y="159"/>
                    <a:pt x="19" y="250"/>
                    <a:pt x="92" y="305"/>
                  </a:cubicBezTo>
                  <a:lnTo>
                    <a:pt x="1041" y="944"/>
                  </a:lnTo>
                  <a:lnTo>
                    <a:pt x="1206" y="688"/>
                  </a:lnTo>
                  <a:lnTo>
                    <a:pt x="275" y="31"/>
                  </a:lnTo>
                  <a:cubicBezTo>
                    <a:pt x="247" y="11"/>
                    <a:pt x="215" y="0"/>
                    <a:pt x="183" y="0"/>
                  </a:cubicBezTo>
                  <a:close/>
                </a:path>
              </a:pathLst>
            </a:custGeom>
            <a:solidFill>
              <a:schemeClr val="dk1"/>
            </a:solidFill>
            <a:ln>
              <a:noFill/>
            </a:ln>
          </p:spPr>
          <p:txBody>
            <a:bodyPr anchorCtr="0" anchor="ctr" bIns="13725" lIns="85050" spcFirstLastPara="1" rIns="85050" wrap="square" tIns="1372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33" name="Google Shape;133;p1"/>
            <p:cNvSpPr/>
            <p:nvPr/>
          </p:nvSpPr>
          <p:spPr>
            <a:xfrm>
              <a:off x="7426800" y="3005640"/>
              <a:ext cx="38520" cy="29520"/>
            </a:xfrm>
            <a:custGeom>
              <a:rect b="b" l="l" r="r" t="t"/>
              <a:pathLst>
                <a:path extrusionOk="0" h="945" w="1224">
                  <a:moveTo>
                    <a:pt x="183" y="0"/>
                  </a:moveTo>
                  <a:cubicBezTo>
                    <a:pt x="135" y="0"/>
                    <a:pt x="88" y="24"/>
                    <a:pt x="55" y="68"/>
                  </a:cubicBezTo>
                  <a:cubicBezTo>
                    <a:pt x="0" y="141"/>
                    <a:pt x="19" y="251"/>
                    <a:pt x="92" y="287"/>
                  </a:cubicBezTo>
                  <a:lnTo>
                    <a:pt x="1059" y="945"/>
                  </a:lnTo>
                  <a:lnTo>
                    <a:pt x="1224" y="689"/>
                  </a:lnTo>
                  <a:lnTo>
                    <a:pt x="274" y="32"/>
                  </a:lnTo>
                  <a:cubicBezTo>
                    <a:pt x="245" y="10"/>
                    <a:pt x="214" y="0"/>
                    <a:pt x="183" y="0"/>
                  </a:cubicBezTo>
                  <a:close/>
                </a:path>
              </a:pathLst>
            </a:custGeom>
            <a:solidFill>
              <a:schemeClr val="dk1"/>
            </a:solidFill>
            <a:ln>
              <a:noFill/>
            </a:ln>
          </p:spPr>
          <p:txBody>
            <a:bodyPr anchorCtr="0" anchor="ctr" bIns="13725" lIns="85050" spcFirstLastPara="1" rIns="85050" wrap="square" tIns="1372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34" name="Google Shape;134;p1"/>
            <p:cNvSpPr/>
            <p:nvPr/>
          </p:nvSpPr>
          <p:spPr>
            <a:xfrm>
              <a:off x="7396560" y="3050280"/>
              <a:ext cx="39240" cy="29880"/>
            </a:xfrm>
            <a:custGeom>
              <a:rect b="b" l="l" r="r" t="t"/>
              <a:pathLst>
                <a:path extrusionOk="0" h="947" w="1242">
                  <a:moveTo>
                    <a:pt x="177" y="0"/>
                  </a:moveTo>
                  <a:cubicBezTo>
                    <a:pt x="131" y="0"/>
                    <a:pt x="87" y="20"/>
                    <a:pt x="55" y="52"/>
                  </a:cubicBezTo>
                  <a:cubicBezTo>
                    <a:pt x="0" y="125"/>
                    <a:pt x="18" y="234"/>
                    <a:pt x="110" y="289"/>
                  </a:cubicBezTo>
                  <a:lnTo>
                    <a:pt x="1059" y="946"/>
                  </a:lnTo>
                  <a:lnTo>
                    <a:pt x="1241" y="672"/>
                  </a:lnTo>
                  <a:lnTo>
                    <a:pt x="274" y="34"/>
                  </a:lnTo>
                  <a:cubicBezTo>
                    <a:pt x="243" y="11"/>
                    <a:pt x="210" y="0"/>
                    <a:pt x="177" y="0"/>
                  </a:cubicBezTo>
                  <a:close/>
                </a:path>
              </a:pathLst>
            </a:custGeom>
            <a:solidFill>
              <a:schemeClr val="dk1"/>
            </a:solidFill>
            <a:ln>
              <a:noFill/>
            </a:ln>
          </p:spPr>
          <p:txBody>
            <a:bodyPr anchorCtr="0" anchor="ctr" bIns="14050" lIns="85050" spcFirstLastPara="1" rIns="85050" wrap="square" tIns="14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35" name="Google Shape;135;p1"/>
            <p:cNvSpPr/>
            <p:nvPr/>
          </p:nvSpPr>
          <p:spPr>
            <a:xfrm>
              <a:off x="7366320" y="3094200"/>
              <a:ext cx="39240" cy="29880"/>
            </a:xfrm>
            <a:custGeom>
              <a:rect b="b" l="l" r="r" t="t"/>
              <a:pathLst>
                <a:path extrusionOk="0" h="947" w="1243">
                  <a:moveTo>
                    <a:pt x="185" y="1"/>
                  </a:moveTo>
                  <a:cubicBezTo>
                    <a:pt x="138" y="1"/>
                    <a:pt x="87" y="20"/>
                    <a:pt x="56" y="52"/>
                  </a:cubicBezTo>
                  <a:cubicBezTo>
                    <a:pt x="1" y="125"/>
                    <a:pt x="19" y="235"/>
                    <a:pt x="110" y="289"/>
                  </a:cubicBezTo>
                  <a:lnTo>
                    <a:pt x="1060" y="947"/>
                  </a:lnTo>
                  <a:lnTo>
                    <a:pt x="1242" y="691"/>
                  </a:lnTo>
                  <a:lnTo>
                    <a:pt x="275" y="34"/>
                  </a:lnTo>
                  <a:cubicBezTo>
                    <a:pt x="252" y="11"/>
                    <a:pt x="219" y="1"/>
                    <a:pt x="185" y="1"/>
                  </a:cubicBezTo>
                  <a:close/>
                </a:path>
              </a:pathLst>
            </a:custGeom>
            <a:solidFill>
              <a:schemeClr val="dk1"/>
            </a:solidFill>
            <a:ln>
              <a:noFill/>
            </a:ln>
          </p:spPr>
          <p:txBody>
            <a:bodyPr anchorCtr="0" anchor="ctr" bIns="14050" lIns="85050" spcFirstLastPara="1" rIns="85050" wrap="square" tIns="14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36" name="Google Shape;136;p1"/>
            <p:cNvSpPr/>
            <p:nvPr/>
          </p:nvSpPr>
          <p:spPr>
            <a:xfrm>
              <a:off x="7336800" y="3138480"/>
              <a:ext cx="38520" cy="29520"/>
            </a:xfrm>
            <a:custGeom>
              <a:rect b="b" l="l" r="r" t="t"/>
              <a:pathLst>
                <a:path extrusionOk="0" h="946" w="1224">
                  <a:moveTo>
                    <a:pt x="174" y="0"/>
                  </a:moveTo>
                  <a:cubicBezTo>
                    <a:pt x="127" y="0"/>
                    <a:pt x="78" y="25"/>
                    <a:pt x="56" y="69"/>
                  </a:cubicBezTo>
                  <a:cubicBezTo>
                    <a:pt x="1" y="142"/>
                    <a:pt x="19" y="233"/>
                    <a:pt x="92" y="288"/>
                  </a:cubicBezTo>
                  <a:lnTo>
                    <a:pt x="1060" y="945"/>
                  </a:lnTo>
                  <a:lnTo>
                    <a:pt x="1224" y="689"/>
                  </a:lnTo>
                  <a:lnTo>
                    <a:pt x="256" y="32"/>
                  </a:lnTo>
                  <a:cubicBezTo>
                    <a:pt x="235" y="11"/>
                    <a:pt x="205" y="0"/>
                    <a:pt x="174" y="0"/>
                  </a:cubicBezTo>
                  <a:close/>
                </a:path>
              </a:pathLst>
            </a:custGeom>
            <a:solidFill>
              <a:schemeClr val="dk1"/>
            </a:solidFill>
            <a:ln>
              <a:noFill/>
            </a:ln>
          </p:spPr>
          <p:txBody>
            <a:bodyPr anchorCtr="0" anchor="ctr" bIns="13725" lIns="85050" spcFirstLastPara="1" rIns="85050" wrap="square" tIns="13725">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37" name="Google Shape;137;p1"/>
            <p:cNvSpPr/>
            <p:nvPr/>
          </p:nvSpPr>
          <p:spPr>
            <a:xfrm>
              <a:off x="6152040" y="2100600"/>
              <a:ext cx="238680" cy="523080"/>
            </a:xfrm>
            <a:custGeom>
              <a:rect b="b" l="l" r="r" t="t"/>
              <a:pathLst>
                <a:path extrusionOk="0" h="16485" w="7522">
                  <a:moveTo>
                    <a:pt x="6645" y="2081"/>
                  </a:moveTo>
                  <a:cubicBezTo>
                    <a:pt x="5313" y="2355"/>
                    <a:pt x="4017" y="2757"/>
                    <a:pt x="2775" y="3286"/>
                  </a:cubicBezTo>
                  <a:cubicBezTo>
                    <a:pt x="2027" y="3615"/>
                    <a:pt x="1570" y="3980"/>
                    <a:pt x="1534" y="4947"/>
                  </a:cubicBezTo>
                  <a:cubicBezTo>
                    <a:pt x="1534" y="5458"/>
                    <a:pt x="1589" y="5988"/>
                    <a:pt x="1698" y="6499"/>
                  </a:cubicBezTo>
                  <a:cubicBezTo>
                    <a:pt x="1972" y="7923"/>
                    <a:pt x="2355" y="9347"/>
                    <a:pt x="2666" y="10679"/>
                  </a:cubicBezTo>
                  <a:cubicBezTo>
                    <a:pt x="3140" y="12706"/>
                    <a:pt x="3688" y="14422"/>
                    <a:pt x="3998" y="16247"/>
                  </a:cubicBezTo>
                  <a:cubicBezTo>
                    <a:pt x="3670" y="16338"/>
                    <a:pt x="3378" y="16430"/>
                    <a:pt x="3049" y="16485"/>
                  </a:cubicBezTo>
                  <a:cubicBezTo>
                    <a:pt x="2063" y="13819"/>
                    <a:pt x="1242" y="11081"/>
                    <a:pt x="585" y="8306"/>
                  </a:cubicBezTo>
                  <a:cubicBezTo>
                    <a:pt x="366" y="7339"/>
                    <a:pt x="92" y="6335"/>
                    <a:pt x="19" y="5349"/>
                  </a:cubicBezTo>
                  <a:cubicBezTo>
                    <a:pt x="1" y="5075"/>
                    <a:pt x="1" y="4783"/>
                    <a:pt x="19" y="4509"/>
                  </a:cubicBezTo>
                  <a:cubicBezTo>
                    <a:pt x="128" y="3067"/>
                    <a:pt x="1260" y="2337"/>
                    <a:pt x="2428" y="1899"/>
                  </a:cubicBezTo>
                  <a:cubicBezTo>
                    <a:pt x="3688" y="1406"/>
                    <a:pt x="5112" y="1242"/>
                    <a:pt x="6609" y="1059"/>
                  </a:cubicBezTo>
                  <a:cubicBezTo>
                    <a:pt x="6737" y="694"/>
                    <a:pt x="6682" y="0"/>
                    <a:pt x="7065" y="37"/>
                  </a:cubicBezTo>
                  <a:cubicBezTo>
                    <a:pt x="7503" y="73"/>
                    <a:pt x="7522" y="822"/>
                    <a:pt x="7522" y="1479"/>
                  </a:cubicBezTo>
                  <a:cubicBezTo>
                    <a:pt x="7522" y="2154"/>
                    <a:pt x="7485" y="2958"/>
                    <a:pt x="7029" y="2921"/>
                  </a:cubicBezTo>
                  <a:cubicBezTo>
                    <a:pt x="6682" y="2884"/>
                    <a:pt x="6737" y="2410"/>
                    <a:pt x="6645" y="2081"/>
                  </a:cubicBezTo>
                  <a:close/>
                </a:path>
              </a:pathLst>
            </a:custGeom>
            <a:solidFill>
              <a:schemeClr val="accen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38" name="Google Shape;138;p1"/>
            <p:cNvSpPr/>
            <p:nvPr/>
          </p:nvSpPr>
          <p:spPr>
            <a:xfrm>
              <a:off x="6474240" y="2100600"/>
              <a:ext cx="238680" cy="523080"/>
            </a:xfrm>
            <a:custGeom>
              <a:rect b="b" l="l" r="r" t="t"/>
              <a:pathLst>
                <a:path extrusionOk="0" h="16485" w="7522">
                  <a:moveTo>
                    <a:pt x="877" y="2081"/>
                  </a:moveTo>
                  <a:cubicBezTo>
                    <a:pt x="2191" y="2355"/>
                    <a:pt x="3505" y="2757"/>
                    <a:pt x="4747" y="3286"/>
                  </a:cubicBezTo>
                  <a:cubicBezTo>
                    <a:pt x="5495" y="3615"/>
                    <a:pt x="5951" y="3980"/>
                    <a:pt x="5988" y="4947"/>
                  </a:cubicBezTo>
                  <a:cubicBezTo>
                    <a:pt x="5988" y="5458"/>
                    <a:pt x="5933" y="5988"/>
                    <a:pt x="5824" y="6499"/>
                  </a:cubicBezTo>
                  <a:cubicBezTo>
                    <a:pt x="5550" y="7923"/>
                    <a:pt x="5167" y="9347"/>
                    <a:pt x="4856" y="10679"/>
                  </a:cubicBezTo>
                  <a:cubicBezTo>
                    <a:pt x="4382" y="12706"/>
                    <a:pt x="3816" y="14422"/>
                    <a:pt x="3524" y="16247"/>
                  </a:cubicBezTo>
                  <a:cubicBezTo>
                    <a:pt x="3852" y="16338"/>
                    <a:pt x="4144" y="16430"/>
                    <a:pt x="4473" y="16485"/>
                  </a:cubicBezTo>
                  <a:cubicBezTo>
                    <a:pt x="5459" y="13819"/>
                    <a:pt x="6280" y="11081"/>
                    <a:pt x="6937" y="8306"/>
                  </a:cubicBezTo>
                  <a:cubicBezTo>
                    <a:pt x="7156" y="7339"/>
                    <a:pt x="7430" y="6335"/>
                    <a:pt x="7503" y="5349"/>
                  </a:cubicBezTo>
                  <a:cubicBezTo>
                    <a:pt x="7521" y="5075"/>
                    <a:pt x="7521" y="4783"/>
                    <a:pt x="7503" y="4509"/>
                  </a:cubicBezTo>
                  <a:cubicBezTo>
                    <a:pt x="7394" y="3067"/>
                    <a:pt x="6262" y="2337"/>
                    <a:pt x="5093" y="1899"/>
                  </a:cubicBezTo>
                  <a:cubicBezTo>
                    <a:pt x="3834" y="1406"/>
                    <a:pt x="2410" y="1242"/>
                    <a:pt x="913" y="1059"/>
                  </a:cubicBezTo>
                  <a:cubicBezTo>
                    <a:pt x="785" y="694"/>
                    <a:pt x="840" y="0"/>
                    <a:pt x="457" y="37"/>
                  </a:cubicBezTo>
                  <a:cubicBezTo>
                    <a:pt x="19" y="73"/>
                    <a:pt x="0" y="822"/>
                    <a:pt x="0" y="1479"/>
                  </a:cubicBezTo>
                  <a:cubicBezTo>
                    <a:pt x="0" y="2154"/>
                    <a:pt x="37" y="2958"/>
                    <a:pt x="493" y="2921"/>
                  </a:cubicBezTo>
                  <a:cubicBezTo>
                    <a:pt x="822" y="2884"/>
                    <a:pt x="767" y="2410"/>
                    <a:pt x="877" y="2081"/>
                  </a:cubicBezTo>
                  <a:close/>
                </a:path>
              </a:pathLst>
            </a:custGeom>
            <a:solidFill>
              <a:schemeClr val="accen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39" name="Google Shape;139;p1"/>
            <p:cNvSpPr/>
            <p:nvPr/>
          </p:nvSpPr>
          <p:spPr>
            <a:xfrm>
              <a:off x="6230160" y="2593440"/>
              <a:ext cx="887400" cy="643680"/>
            </a:xfrm>
            <a:custGeom>
              <a:rect b="b" l="l" r="r" t="t"/>
              <a:pathLst>
                <a:path extrusionOk="0" h="20282" w="27950">
                  <a:moveTo>
                    <a:pt x="10753" y="0"/>
                  </a:moveTo>
                  <a:cubicBezTo>
                    <a:pt x="11593" y="73"/>
                    <a:pt x="12414" y="146"/>
                    <a:pt x="13236" y="219"/>
                  </a:cubicBezTo>
                  <a:cubicBezTo>
                    <a:pt x="12761" y="3815"/>
                    <a:pt x="11155" y="6261"/>
                    <a:pt x="8015" y="7193"/>
                  </a:cubicBezTo>
                  <a:cubicBezTo>
                    <a:pt x="8344" y="8799"/>
                    <a:pt x="8617" y="10296"/>
                    <a:pt x="9165" y="11665"/>
                  </a:cubicBezTo>
                  <a:cubicBezTo>
                    <a:pt x="9676" y="12943"/>
                    <a:pt x="10352" y="14148"/>
                    <a:pt x="11191" y="15225"/>
                  </a:cubicBezTo>
                  <a:cubicBezTo>
                    <a:pt x="12013" y="16302"/>
                    <a:pt x="12889" y="17178"/>
                    <a:pt x="14203" y="17799"/>
                  </a:cubicBezTo>
                  <a:cubicBezTo>
                    <a:pt x="15481" y="18401"/>
                    <a:pt x="17307" y="18511"/>
                    <a:pt x="18913" y="17981"/>
                  </a:cubicBezTo>
                  <a:cubicBezTo>
                    <a:pt x="20282" y="17525"/>
                    <a:pt x="21286" y="16612"/>
                    <a:pt x="22071" y="15553"/>
                  </a:cubicBezTo>
                  <a:cubicBezTo>
                    <a:pt x="22875" y="14440"/>
                    <a:pt x="23276" y="13052"/>
                    <a:pt x="23495" y="11391"/>
                  </a:cubicBezTo>
                  <a:cubicBezTo>
                    <a:pt x="23605" y="10533"/>
                    <a:pt x="23660" y="9712"/>
                    <a:pt x="23842" y="8945"/>
                  </a:cubicBezTo>
                  <a:cubicBezTo>
                    <a:pt x="24371" y="6736"/>
                    <a:pt x="25266" y="4838"/>
                    <a:pt x="27767" y="4491"/>
                  </a:cubicBezTo>
                  <a:cubicBezTo>
                    <a:pt x="27803" y="4655"/>
                    <a:pt x="27840" y="4801"/>
                    <a:pt x="27876" y="4965"/>
                  </a:cubicBezTo>
                  <a:cubicBezTo>
                    <a:pt x="27913" y="5130"/>
                    <a:pt x="27949" y="5294"/>
                    <a:pt x="27949" y="5458"/>
                  </a:cubicBezTo>
                  <a:cubicBezTo>
                    <a:pt x="27913" y="5623"/>
                    <a:pt x="27639" y="5714"/>
                    <a:pt x="27511" y="5805"/>
                  </a:cubicBezTo>
                  <a:cubicBezTo>
                    <a:pt x="27384" y="5933"/>
                    <a:pt x="27238" y="6061"/>
                    <a:pt x="27091" y="6170"/>
                  </a:cubicBezTo>
                  <a:cubicBezTo>
                    <a:pt x="26124" y="7211"/>
                    <a:pt x="25576" y="8708"/>
                    <a:pt x="25302" y="10405"/>
                  </a:cubicBezTo>
                  <a:cubicBezTo>
                    <a:pt x="25156" y="11318"/>
                    <a:pt x="25120" y="12194"/>
                    <a:pt x="24956" y="13052"/>
                  </a:cubicBezTo>
                  <a:cubicBezTo>
                    <a:pt x="24773" y="13819"/>
                    <a:pt x="24518" y="14549"/>
                    <a:pt x="24171" y="15261"/>
                  </a:cubicBezTo>
                  <a:cubicBezTo>
                    <a:pt x="23550" y="16557"/>
                    <a:pt x="22619" y="17689"/>
                    <a:pt x="21451" y="18547"/>
                  </a:cubicBezTo>
                  <a:cubicBezTo>
                    <a:pt x="20191" y="19533"/>
                    <a:pt x="18658" y="20099"/>
                    <a:pt x="17069" y="20172"/>
                  </a:cubicBezTo>
                  <a:cubicBezTo>
                    <a:pt x="14642" y="20281"/>
                    <a:pt x="12250" y="19405"/>
                    <a:pt x="10479" y="17744"/>
                  </a:cubicBezTo>
                  <a:cubicBezTo>
                    <a:pt x="8873" y="16229"/>
                    <a:pt x="7668" y="14312"/>
                    <a:pt x="7029" y="12176"/>
                  </a:cubicBezTo>
                  <a:cubicBezTo>
                    <a:pt x="6518" y="10588"/>
                    <a:pt x="6153" y="8945"/>
                    <a:pt x="5952" y="7266"/>
                  </a:cubicBezTo>
                  <a:cubicBezTo>
                    <a:pt x="4419" y="6992"/>
                    <a:pt x="3031" y="6207"/>
                    <a:pt x="2027" y="5020"/>
                  </a:cubicBezTo>
                  <a:cubicBezTo>
                    <a:pt x="987" y="3870"/>
                    <a:pt x="275" y="2446"/>
                    <a:pt x="1" y="913"/>
                  </a:cubicBezTo>
                  <a:cubicBezTo>
                    <a:pt x="804" y="694"/>
                    <a:pt x="1626" y="493"/>
                    <a:pt x="2484" y="329"/>
                  </a:cubicBezTo>
                  <a:cubicBezTo>
                    <a:pt x="2885" y="1789"/>
                    <a:pt x="3469" y="3085"/>
                    <a:pt x="4437" y="4053"/>
                  </a:cubicBezTo>
                  <a:cubicBezTo>
                    <a:pt x="4912" y="4564"/>
                    <a:pt x="5532" y="4929"/>
                    <a:pt x="6208" y="5111"/>
                  </a:cubicBezTo>
                  <a:cubicBezTo>
                    <a:pt x="6974" y="5276"/>
                    <a:pt x="7796" y="5130"/>
                    <a:pt x="8453" y="4692"/>
                  </a:cubicBezTo>
                  <a:cubicBezTo>
                    <a:pt x="9786" y="3815"/>
                    <a:pt x="10479" y="2136"/>
                    <a:pt x="10698" y="91"/>
                  </a:cubicBezTo>
                  <a:cubicBezTo>
                    <a:pt x="10698" y="55"/>
                    <a:pt x="10717" y="18"/>
                    <a:pt x="10753" y="0"/>
                  </a:cubicBezTo>
                  <a:close/>
                </a:path>
              </a:pathLst>
            </a:custGeom>
            <a:solidFill>
              <a:schemeClr val="dk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40" name="Google Shape;140;p1"/>
            <p:cNvSpPr/>
            <p:nvPr/>
          </p:nvSpPr>
          <p:spPr>
            <a:xfrm>
              <a:off x="7046640" y="2649600"/>
              <a:ext cx="222480" cy="231480"/>
            </a:xfrm>
            <a:custGeom>
              <a:rect b="b" l="l" r="r" t="t"/>
              <a:pathLst>
                <a:path extrusionOk="0" h="7303" w="7011">
                  <a:moveTo>
                    <a:pt x="3469" y="56"/>
                  </a:moveTo>
                  <a:cubicBezTo>
                    <a:pt x="4473" y="1"/>
                    <a:pt x="5440" y="402"/>
                    <a:pt x="6097" y="1169"/>
                  </a:cubicBezTo>
                  <a:cubicBezTo>
                    <a:pt x="6681" y="1808"/>
                    <a:pt x="6992" y="2629"/>
                    <a:pt x="7010" y="3487"/>
                  </a:cubicBezTo>
                  <a:cubicBezTo>
                    <a:pt x="7010" y="4418"/>
                    <a:pt x="6627" y="5295"/>
                    <a:pt x="5933" y="5915"/>
                  </a:cubicBezTo>
                  <a:cubicBezTo>
                    <a:pt x="5312" y="6518"/>
                    <a:pt x="4546" y="6919"/>
                    <a:pt x="3706" y="7084"/>
                  </a:cubicBezTo>
                  <a:cubicBezTo>
                    <a:pt x="2264" y="7303"/>
                    <a:pt x="1077" y="6372"/>
                    <a:pt x="548" y="5349"/>
                  </a:cubicBezTo>
                  <a:cubicBezTo>
                    <a:pt x="347" y="5003"/>
                    <a:pt x="219" y="4619"/>
                    <a:pt x="164" y="4218"/>
                  </a:cubicBezTo>
                  <a:cubicBezTo>
                    <a:pt x="0" y="2319"/>
                    <a:pt x="949" y="914"/>
                    <a:pt x="2136" y="348"/>
                  </a:cubicBezTo>
                  <a:cubicBezTo>
                    <a:pt x="2556" y="183"/>
                    <a:pt x="3012" y="74"/>
                    <a:pt x="3469" y="56"/>
                  </a:cubicBezTo>
                  <a:close/>
                </a:path>
              </a:pathLst>
            </a:custGeom>
            <a:solidFill>
              <a:schemeClr val="accent3"/>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41" name="Google Shape;141;p1"/>
            <p:cNvSpPr/>
            <p:nvPr/>
          </p:nvSpPr>
          <p:spPr>
            <a:xfrm>
              <a:off x="7092720" y="2689560"/>
              <a:ext cx="145800" cy="134280"/>
            </a:xfrm>
            <a:custGeom>
              <a:rect b="b" l="l" r="r" t="t"/>
              <a:pathLst>
                <a:path extrusionOk="0" h="4236" w="4601">
                  <a:moveTo>
                    <a:pt x="1917" y="110"/>
                  </a:moveTo>
                  <a:cubicBezTo>
                    <a:pt x="2666" y="0"/>
                    <a:pt x="3414" y="347"/>
                    <a:pt x="3834" y="986"/>
                  </a:cubicBezTo>
                  <a:cubicBezTo>
                    <a:pt x="3925" y="1114"/>
                    <a:pt x="3998" y="1260"/>
                    <a:pt x="4071" y="1406"/>
                  </a:cubicBezTo>
                  <a:cubicBezTo>
                    <a:pt x="4601" y="2739"/>
                    <a:pt x="3725" y="4217"/>
                    <a:pt x="2282" y="4236"/>
                  </a:cubicBezTo>
                  <a:cubicBezTo>
                    <a:pt x="1169" y="4236"/>
                    <a:pt x="165" y="3505"/>
                    <a:pt x="55" y="2428"/>
                  </a:cubicBezTo>
                  <a:cubicBezTo>
                    <a:pt x="0" y="1753"/>
                    <a:pt x="256" y="1077"/>
                    <a:pt x="785" y="639"/>
                  </a:cubicBezTo>
                  <a:cubicBezTo>
                    <a:pt x="1096" y="365"/>
                    <a:pt x="1497" y="165"/>
                    <a:pt x="1917" y="110"/>
                  </a:cubicBezTo>
                  <a:close/>
                </a:path>
              </a:pathLst>
            </a:custGeom>
            <a:solidFill>
              <a:schemeClr val="accent4"/>
            </a:solidFill>
            <a:ln>
              <a:noFill/>
            </a:ln>
          </p:spPr>
          <p:txBody>
            <a:bodyPr anchorCtr="0" anchor="ctr" bIns="62600" lIns="85050" spcFirstLastPara="1" rIns="85050" wrap="square" tIns="6260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grpSp>
      <p:grpSp>
        <p:nvGrpSpPr>
          <p:cNvPr id="142" name="Google Shape;142;p1"/>
          <p:cNvGrpSpPr/>
          <p:nvPr/>
        </p:nvGrpSpPr>
        <p:grpSpPr>
          <a:xfrm>
            <a:off x="5652234" y="3028675"/>
            <a:ext cx="675917" cy="462893"/>
            <a:chOff x="5424840" y="2655000"/>
            <a:chExt cx="726480" cy="497520"/>
          </a:xfrm>
        </p:grpSpPr>
        <p:sp>
          <p:nvSpPr>
            <p:cNvPr id="143" name="Google Shape;143;p1"/>
            <p:cNvSpPr/>
            <p:nvPr/>
          </p:nvSpPr>
          <p:spPr>
            <a:xfrm>
              <a:off x="5424840" y="2655000"/>
              <a:ext cx="726480" cy="497520"/>
            </a:xfrm>
            <a:custGeom>
              <a:rect b="b" l="l" r="r" t="t"/>
              <a:pathLst>
                <a:path extrusionOk="0" h="8090" w="11815">
                  <a:moveTo>
                    <a:pt x="1" y="1"/>
                  </a:moveTo>
                  <a:lnTo>
                    <a:pt x="1" y="8090"/>
                  </a:lnTo>
                  <a:lnTo>
                    <a:pt x="11815" y="8090"/>
                  </a:lnTo>
                  <a:lnTo>
                    <a:pt x="11815" y="1"/>
                  </a:lnTo>
                  <a:close/>
                </a:path>
              </a:pathLst>
            </a:custGeom>
            <a:solidFill>
              <a:schemeClr val="dk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44" name="Google Shape;144;p1"/>
            <p:cNvSpPr/>
            <p:nvPr/>
          </p:nvSpPr>
          <p:spPr>
            <a:xfrm>
              <a:off x="5486400" y="3108960"/>
              <a:ext cx="44280" cy="43560"/>
            </a:xfrm>
            <a:custGeom>
              <a:rect b="b" l="l" r="r" t="t"/>
              <a:pathLst>
                <a:path extrusionOk="0" h="711" w="725">
                  <a:moveTo>
                    <a:pt x="0" y="0"/>
                  </a:moveTo>
                  <a:lnTo>
                    <a:pt x="0" y="711"/>
                  </a:lnTo>
                  <a:lnTo>
                    <a:pt x="725" y="711"/>
                  </a:lnTo>
                  <a:lnTo>
                    <a:pt x="725" y="0"/>
                  </a:lnTo>
                  <a:close/>
                </a:path>
              </a:pathLst>
            </a:custGeom>
            <a:solidFill>
              <a:schemeClr val="accent6"/>
            </a:solidFill>
            <a:ln>
              <a:noFill/>
            </a:ln>
          </p:spPr>
          <p:txBody>
            <a:bodyPr anchorCtr="0" anchor="ctr" bIns="20425" lIns="85050" spcFirstLastPara="1" rIns="85050" wrap="square" tIns="2042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45" name="Google Shape;145;p1"/>
            <p:cNvSpPr/>
            <p:nvPr/>
          </p:nvSpPr>
          <p:spPr>
            <a:xfrm>
              <a:off x="5580000" y="2983320"/>
              <a:ext cx="43560" cy="169200"/>
            </a:xfrm>
            <a:custGeom>
              <a:rect b="b" l="l" r="r" t="t"/>
              <a:pathLst>
                <a:path extrusionOk="0" h="2755" w="711">
                  <a:moveTo>
                    <a:pt x="0" y="0"/>
                  </a:moveTo>
                  <a:lnTo>
                    <a:pt x="0" y="2755"/>
                  </a:lnTo>
                  <a:lnTo>
                    <a:pt x="710" y="2755"/>
                  </a:lnTo>
                  <a:lnTo>
                    <a:pt x="710" y="0"/>
                  </a:lnTo>
                  <a:close/>
                </a:path>
              </a:pathLst>
            </a:custGeom>
            <a:solidFill>
              <a:schemeClr val="accent4"/>
            </a:solidFill>
            <a:ln>
              <a:noFill/>
            </a:ln>
          </p:spPr>
          <p:txBody>
            <a:bodyPr anchorCtr="0" anchor="ctr" bIns="78725" lIns="85050" spcFirstLastPara="1" rIns="85050" wrap="square" tIns="7872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46" name="Google Shape;146;p1"/>
            <p:cNvSpPr/>
            <p:nvPr/>
          </p:nvSpPr>
          <p:spPr>
            <a:xfrm>
              <a:off x="5672880" y="2903760"/>
              <a:ext cx="43560" cy="248400"/>
            </a:xfrm>
            <a:custGeom>
              <a:rect b="b" l="l" r="r" t="t"/>
              <a:pathLst>
                <a:path extrusionOk="0" h="4045" w="711">
                  <a:moveTo>
                    <a:pt x="1" y="0"/>
                  </a:moveTo>
                  <a:lnTo>
                    <a:pt x="1" y="4045"/>
                  </a:lnTo>
                  <a:lnTo>
                    <a:pt x="711" y="4045"/>
                  </a:lnTo>
                  <a:lnTo>
                    <a:pt x="711" y="0"/>
                  </a:lnTo>
                  <a:close/>
                </a:path>
              </a:pathLst>
            </a:custGeom>
            <a:solidFill>
              <a:schemeClr val="lt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47" name="Google Shape;147;p1"/>
            <p:cNvSpPr/>
            <p:nvPr/>
          </p:nvSpPr>
          <p:spPr>
            <a:xfrm>
              <a:off x="5766480" y="2789640"/>
              <a:ext cx="43560" cy="362880"/>
            </a:xfrm>
            <a:custGeom>
              <a:rect b="b" l="l" r="r" t="t"/>
              <a:pathLst>
                <a:path extrusionOk="0" h="5901" w="711">
                  <a:moveTo>
                    <a:pt x="1" y="1"/>
                  </a:moveTo>
                  <a:lnTo>
                    <a:pt x="1" y="5901"/>
                  </a:lnTo>
                  <a:lnTo>
                    <a:pt x="711" y="5901"/>
                  </a:lnTo>
                  <a:lnTo>
                    <a:pt x="711" y="1"/>
                  </a:lnTo>
                  <a:close/>
                </a:path>
              </a:pathLst>
            </a:custGeom>
            <a:solidFill>
              <a:schemeClr val="accent6"/>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48" name="Google Shape;148;p1"/>
            <p:cNvSpPr/>
            <p:nvPr/>
          </p:nvSpPr>
          <p:spPr>
            <a:xfrm>
              <a:off x="5859360" y="2700360"/>
              <a:ext cx="43560" cy="451800"/>
            </a:xfrm>
            <a:custGeom>
              <a:rect b="b" l="l" r="r" t="t"/>
              <a:pathLst>
                <a:path extrusionOk="0" h="7350" w="711">
                  <a:moveTo>
                    <a:pt x="0" y="0"/>
                  </a:moveTo>
                  <a:lnTo>
                    <a:pt x="0" y="7350"/>
                  </a:lnTo>
                  <a:lnTo>
                    <a:pt x="711" y="7350"/>
                  </a:lnTo>
                  <a:lnTo>
                    <a:pt x="711" y="0"/>
                  </a:lnTo>
                  <a:close/>
                </a:path>
              </a:pathLst>
            </a:custGeom>
            <a:solidFill>
              <a:schemeClr val="lt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49" name="Google Shape;149;p1"/>
            <p:cNvSpPr/>
            <p:nvPr/>
          </p:nvSpPr>
          <p:spPr>
            <a:xfrm>
              <a:off x="5951880" y="3037680"/>
              <a:ext cx="44280" cy="114840"/>
            </a:xfrm>
            <a:custGeom>
              <a:rect b="b" l="l" r="r" t="t"/>
              <a:pathLst>
                <a:path extrusionOk="0" h="1871" w="726">
                  <a:moveTo>
                    <a:pt x="1" y="1"/>
                  </a:moveTo>
                  <a:lnTo>
                    <a:pt x="1" y="1871"/>
                  </a:lnTo>
                  <a:lnTo>
                    <a:pt x="726" y="1871"/>
                  </a:lnTo>
                  <a:lnTo>
                    <a:pt x="726" y="1"/>
                  </a:lnTo>
                  <a:close/>
                </a:path>
              </a:pathLst>
            </a:custGeom>
            <a:solidFill>
              <a:schemeClr val="accent6"/>
            </a:solidFill>
            <a:ln>
              <a:noFill/>
            </a:ln>
          </p:spPr>
          <p:txBody>
            <a:bodyPr anchorCtr="0" anchor="ctr" bIns="53575" lIns="85050" spcFirstLastPara="1" rIns="85050" wrap="square" tIns="5357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50" name="Google Shape;150;p1"/>
            <p:cNvSpPr/>
            <p:nvPr/>
          </p:nvSpPr>
          <p:spPr>
            <a:xfrm>
              <a:off x="6045840" y="2890440"/>
              <a:ext cx="43560" cy="262080"/>
            </a:xfrm>
            <a:custGeom>
              <a:rect b="b" l="l" r="r" t="t"/>
              <a:pathLst>
                <a:path extrusionOk="0" h="4263" w="712">
                  <a:moveTo>
                    <a:pt x="1" y="1"/>
                  </a:moveTo>
                  <a:lnTo>
                    <a:pt x="1" y="4263"/>
                  </a:lnTo>
                  <a:lnTo>
                    <a:pt x="711" y="4263"/>
                  </a:lnTo>
                  <a:lnTo>
                    <a:pt x="711" y="1"/>
                  </a:lnTo>
                  <a:close/>
                </a:path>
              </a:pathLst>
            </a:custGeom>
            <a:solidFill>
              <a:schemeClr val="accent4"/>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grpSp>
      <p:sp>
        <p:nvSpPr>
          <p:cNvPr id="151" name="Google Shape;151;p1"/>
          <p:cNvSpPr/>
          <p:nvPr/>
        </p:nvSpPr>
        <p:spPr>
          <a:xfrm flipH="1">
            <a:off x="5728525" y="1653378"/>
            <a:ext cx="495710" cy="462888"/>
          </a:xfrm>
          <a:custGeom>
            <a:rect b="b" l="l" r="r" t="t"/>
            <a:pathLst>
              <a:path extrusionOk="0" h="9866" w="10565">
                <a:moveTo>
                  <a:pt x="4552" y="1"/>
                </a:moveTo>
                <a:cubicBezTo>
                  <a:pt x="2229" y="1"/>
                  <a:pt x="0" y="1811"/>
                  <a:pt x="0" y="4539"/>
                </a:cubicBezTo>
                <a:cubicBezTo>
                  <a:pt x="0" y="6145"/>
                  <a:pt x="876" y="7642"/>
                  <a:pt x="2282" y="8463"/>
                </a:cubicBezTo>
                <a:cubicBezTo>
                  <a:pt x="2191" y="8902"/>
                  <a:pt x="2081" y="9358"/>
                  <a:pt x="1917" y="9778"/>
                </a:cubicBezTo>
                <a:cubicBezTo>
                  <a:pt x="1903" y="9831"/>
                  <a:pt x="1949" y="9865"/>
                  <a:pt x="1988" y="9865"/>
                </a:cubicBezTo>
                <a:cubicBezTo>
                  <a:pt x="2003" y="9865"/>
                  <a:pt x="2017" y="9861"/>
                  <a:pt x="2026" y="9851"/>
                </a:cubicBezTo>
                <a:lnTo>
                  <a:pt x="2884" y="8755"/>
                </a:lnTo>
                <a:cubicBezTo>
                  <a:pt x="3395" y="8956"/>
                  <a:pt x="3961" y="9048"/>
                  <a:pt x="4527" y="9048"/>
                </a:cubicBezTo>
                <a:cubicBezTo>
                  <a:pt x="4535" y="9048"/>
                  <a:pt x="4542" y="9048"/>
                  <a:pt x="4550" y="9048"/>
                </a:cubicBezTo>
                <a:cubicBezTo>
                  <a:pt x="8551" y="9048"/>
                  <a:pt x="10564" y="4186"/>
                  <a:pt x="7722" y="1344"/>
                </a:cubicBezTo>
                <a:cubicBezTo>
                  <a:pt x="6800" y="416"/>
                  <a:pt x="5665" y="1"/>
                  <a:pt x="4552" y="1"/>
                </a:cubicBezTo>
                <a:close/>
              </a:path>
            </a:pathLst>
          </a:custGeom>
          <a:solidFill>
            <a:schemeClr val="l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52" name="Google Shape;152;p1"/>
          <p:cNvSpPr/>
          <p:nvPr/>
        </p:nvSpPr>
        <p:spPr>
          <a:xfrm flipH="1">
            <a:off x="5855133" y="1752185"/>
            <a:ext cx="313503" cy="265604"/>
          </a:xfrm>
          <a:custGeom>
            <a:rect b="b" l="l" r="r" t="t"/>
            <a:pathLst>
              <a:path extrusionOk="0" h="5662" w="6682">
                <a:moveTo>
                  <a:pt x="1721" y="1"/>
                </a:moveTo>
                <a:cubicBezTo>
                  <a:pt x="861" y="1"/>
                  <a:pt x="1" y="606"/>
                  <a:pt x="1" y="1700"/>
                </a:cubicBezTo>
                <a:cubicBezTo>
                  <a:pt x="1" y="3599"/>
                  <a:pt x="3341" y="5662"/>
                  <a:pt x="3341" y="5662"/>
                </a:cubicBezTo>
                <a:cubicBezTo>
                  <a:pt x="3341" y="5662"/>
                  <a:pt x="6682" y="3380"/>
                  <a:pt x="6682" y="1700"/>
                </a:cubicBezTo>
                <a:cubicBezTo>
                  <a:pt x="6682" y="769"/>
                  <a:pt x="5915" y="3"/>
                  <a:pt x="4984" y="3"/>
                </a:cubicBezTo>
                <a:cubicBezTo>
                  <a:pt x="4218" y="3"/>
                  <a:pt x="3560" y="496"/>
                  <a:pt x="3341" y="1226"/>
                </a:cubicBezTo>
                <a:cubicBezTo>
                  <a:pt x="3098" y="389"/>
                  <a:pt x="2410" y="1"/>
                  <a:pt x="1721" y="1"/>
                </a:cubicBezTo>
                <a:close/>
              </a:path>
            </a:pathLst>
          </a:custGeom>
          <a:solidFill>
            <a:schemeClr val="accent6"/>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53" name="Google Shape;153;p1"/>
          <p:cNvSpPr/>
          <p:nvPr/>
        </p:nvSpPr>
        <p:spPr>
          <a:xfrm flipH="1">
            <a:off x="5885268" y="1839939"/>
            <a:ext cx="263606" cy="97469"/>
          </a:xfrm>
          <a:custGeom>
            <a:rect b="b" l="l" r="r" t="t"/>
            <a:pathLst>
              <a:path extrusionOk="0" h="2082" w="5623">
                <a:moveTo>
                  <a:pt x="2428" y="1"/>
                </a:moveTo>
                <a:cubicBezTo>
                  <a:pt x="2410" y="1"/>
                  <a:pt x="2392" y="19"/>
                  <a:pt x="2373" y="37"/>
                </a:cubicBezTo>
                <a:lnTo>
                  <a:pt x="2081" y="1078"/>
                </a:lnTo>
                <a:lnTo>
                  <a:pt x="0" y="1078"/>
                </a:lnTo>
                <a:cubicBezTo>
                  <a:pt x="18" y="1114"/>
                  <a:pt x="55" y="1151"/>
                  <a:pt x="73" y="1187"/>
                </a:cubicBezTo>
                <a:lnTo>
                  <a:pt x="2136" y="1187"/>
                </a:lnTo>
                <a:cubicBezTo>
                  <a:pt x="2154" y="1187"/>
                  <a:pt x="2191" y="1169"/>
                  <a:pt x="2191" y="1151"/>
                </a:cubicBezTo>
                <a:lnTo>
                  <a:pt x="2428" y="293"/>
                </a:lnTo>
                <a:lnTo>
                  <a:pt x="2885" y="2027"/>
                </a:lnTo>
                <a:cubicBezTo>
                  <a:pt x="2903" y="2045"/>
                  <a:pt x="2921" y="2063"/>
                  <a:pt x="2939" y="2082"/>
                </a:cubicBezTo>
                <a:cubicBezTo>
                  <a:pt x="2976" y="2082"/>
                  <a:pt x="2994" y="2063"/>
                  <a:pt x="2994" y="2027"/>
                </a:cubicBezTo>
                <a:lnTo>
                  <a:pt x="3487" y="804"/>
                </a:lnTo>
                <a:lnTo>
                  <a:pt x="3651" y="1406"/>
                </a:lnTo>
                <a:cubicBezTo>
                  <a:pt x="3651" y="1425"/>
                  <a:pt x="3688" y="1443"/>
                  <a:pt x="3706" y="1443"/>
                </a:cubicBezTo>
                <a:lnTo>
                  <a:pt x="5532" y="1443"/>
                </a:lnTo>
                <a:cubicBezTo>
                  <a:pt x="5568" y="1406"/>
                  <a:pt x="5605" y="1370"/>
                  <a:pt x="5623" y="1315"/>
                </a:cubicBezTo>
                <a:lnTo>
                  <a:pt x="5623" y="1315"/>
                </a:lnTo>
                <a:lnTo>
                  <a:pt x="3761" y="1333"/>
                </a:lnTo>
                <a:lnTo>
                  <a:pt x="3578" y="585"/>
                </a:lnTo>
                <a:cubicBezTo>
                  <a:pt x="3578" y="567"/>
                  <a:pt x="3560" y="548"/>
                  <a:pt x="3523" y="548"/>
                </a:cubicBezTo>
                <a:cubicBezTo>
                  <a:pt x="3505" y="548"/>
                  <a:pt x="3469" y="567"/>
                  <a:pt x="3469" y="585"/>
                </a:cubicBezTo>
                <a:lnTo>
                  <a:pt x="2976" y="1826"/>
                </a:lnTo>
                <a:lnTo>
                  <a:pt x="2501" y="37"/>
                </a:lnTo>
                <a:cubicBezTo>
                  <a:pt x="2483" y="19"/>
                  <a:pt x="2465" y="1"/>
                  <a:pt x="2428" y="1"/>
                </a:cubicBezTo>
                <a:close/>
              </a:path>
            </a:pathLst>
          </a:custGeom>
          <a:solidFill>
            <a:srgbClr val="FFFFFF"/>
          </a:solidFill>
          <a:ln>
            <a:noFill/>
          </a:ln>
        </p:spPr>
        <p:txBody>
          <a:bodyPr anchorCtr="0" anchor="ctr" bIns="48900" lIns="85050" spcFirstLastPara="1" rIns="85050" wrap="square" tIns="4890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54" name="Google Shape;154;p1"/>
          <p:cNvSpPr/>
          <p:nvPr/>
        </p:nvSpPr>
        <p:spPr>
          <a:xfrm>
            <a:off x="7403556" y="1371025"/>
            <a:ext cx="386174" cy="382168"/>
          </a:xfrm>
          <a:custGeom>
            <a:rect b="b" l="l" r="r" t="t"/>
            <a:pathLst>
              <a:path extrusionOk="0" h="5654" w="5712">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l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55" name="Google Shape;155;p1"/>
          <p:cNvSpPr txBox="1"/>
          <p:nvPr>
            <p:ph type="title"/>
          </p:nvPr>
        </p:nvSpPr>
        <p:spPr>
          <a:xfrm>
            <a:off x="439125" y="407775"/>
            <a:ext cx="5369100" cy="2451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4900"/>
              <a:buFont typeface="Alata"/>
              <a:buNone/>
            </a:pPr>
            <a:r>
              <a:rPr lang="en-US" sz="4600">
                <a:solidFill>
                  <a:schemeClr val="dk1"/>
                </a:solidFill>
                <a:latin typeface="Alata"/>
                <a:ea typeface="Alata"/>
                <a:cs typeface="Alata"/>
                <a:sym typeface="Alata"/>
              </a:rPr>
              <a:t>What Drives Delayed Diabetes Follow-Up?</a:t>
            </a:r>
            <a:endParaRPr sz="4600" u="none" strike="noStrike">
              <a:solidFill>
                <a:schemeClr val="dk1"/>
              </a:solidFill>
              <a:latin typeface="Alata"/>
              <a:ea typeface="Alata"/>
              <a:cs typeface="Alata"/>
              <a:sym typeface="Alata"/>
            </a:endParaRPr>
          </a:p>
        </p:txBody>
      </p:sp>
      <p:sp>
        <p:nvSpPr>
          <p:cNvPr id="156" name="Google Shape;156;p1"/>
          <p:cNvSpPr txBox="1"/>
          <p:nvPr>
            <p:ph idx="1" type="subTitle"/>
          </p:nvPr>
        </p:nvSpPr>
        <p:spPr>
          <a:xfrm>
            <a:off x="547425" y="3028678"/>
            <a:ext cx="3590700" cy="6150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dk2"/>
              </a:buClr>
              <a:buSzPts val="1300"/>
              <a:buFont typeface="Montserrat"/>
              <a:buNone/>
            </a:pPr>
            <a:r>
              <a:rPr lang="en-US" sz="1300">
                <a:solidFill>
                  <a:schemeClr val="dk2"/>
                </a:solidFill>
                <a:latin typeface="Montserrat"/>
                <a:ea typeface="Montserrat"/>
                <a:cs typeface="Montserrat"/>
                <a:sym typeface="Montserrat"/>
              </a:rPr>
              <a:t>Designing Better Care Pathways to Reduce Diabetes Follow-Up Delays.</a:t>
            </a:r>
            <a:endParaRPr sz="1300">
              <a:solidFill>
                <a:schemeClr val="dk2"/>
              </a:solidFill>
              <a:latin typeface="Montserrat"/>
              <a:ea typeface="Montserrat"/>
              <a:cs typeface="Montserrat"/>
              <a:sym typeface="Montserrat"/>
            </a:endParaRPr>
          </a:p>
        </p:txBody>
      </p:sp>
      <p:sp>
        <p:nvSpPr>
          <p:cNvPr id="157" name="Google Shape;157;p1"/>
          <p:cNvSpPr/>
          <p:nvPr/>
        </p:nvSpPr>
        <p:spPr>
          <a:xfrm>
            <a:off x="4876105" y="4254513"/>
            <a:ext cx="135318" cy="135318"/>
          </a:xfrm>
          <a:custGeom>
            <a:rect b="b" l="l" r="r" t="t"/>
            <a:pathLst>
              <a:path extrusionOk="0" fill="none" h="1546" w="1546">
                <a:moveTo>
                  <a:pt x="1546" y="658"/>
                </a:moveTo>
                <a:cubicBezTo>
                  <a:pt x="1546" y="1231"/>
                  <a:pt x="830" y="1546"/>
                  <a:pt x="429" y="1116"/>
                </a:cubicBezTo>
                <a:cubicBezTo>
                  <a:pt x="0" y="716"/>
                  <a:pt x="315" y="0"/>
                  <a:pt x="887" y="0"/>
                </a:cubicBezTo>
                <a:cubicBezTo>
                  <a:pt x="1231" y="0"/>
                  <a:pt x="1546" y="315"/>
                  <a:pt x="1546" y="658"/>
                </a:cubicBezTo>
                <a:close/>
              </a:path>
            </a:pathLst>
          </a:custGeom>
          <a:solidFill>
            <a:schemeClr val="accent2"/>
          </a:solidFill>
          <a:ln cap="rnd" cmpd="sng" w="17975">
            <a:solidFill>
              <a:srgbClr val="C3D9FB"/>
            </a:solidFill>
            <a:prstDash val="solid"/>
            <a:round/>
            <a:headEnd len="sm" w="sm" type="none"/>
            <a:tailEnd len="sm" w="sm" type="none"/>
          </a:ln>
        </p:spPr>
        <p:txBody>
          <a:bodyPr anchorCtr="0" anchor="ctr" bIns="67625" lIns="85050" spcFirstLastPara="1" rIns="85050" wrap="square" tIns="67625">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58" name="Google Shape;158;p1"/>
          <p:cNvSpPr/>
          <p:nvPr/>
        </p:nvSpPr>
        <p:spPr>
          <a:xfrm>
            <a:off x="8413062" y="2299140"/>
            <a:ext cx="211353" cy="180870"/>
          </a:xfrm>
          <a:custGeom>
            <a:rect b="b" l="l" r="r" t="t"/>
            <a:pathLst>
              <a:path extrusionOk="0" h="5835" w="6814">
                <a:moveTo>
                  <a:pt x="3882" y="718"/>
                </a:moveTo>
                <a:cubicBezTo>
                  <a:pt x="5008" y="718"/>
                  <a:pt x="6089" y="1591"/>
                  <a:pt x="6089" y="2914"/>
                </a:cubicBezTo>
                <a:cubicBezTo>
                  <a:pt x="6089" y="4132"/>
                  <a:pt x="5103" y="5103"/>
                  <a:pt x="3886" y="5103"/>
                </a:cubicBezTo>
                <a:cubicBezTo>
                  <a:pt x="1943" y="5103"/>
                  <a:pt x="972" y="2740"/>
                  <a:pt x="2349" y="1363"/>
                </a:cubicBezTo>
                <a:cubicBezTo>
                  <a:pt x="2795" y="918"/>
                  <a:pt x="3344" y="718"/>
                  <a:pt x="3882" y="718"/>
                </a:cubicBezTo>
                <a:close/>
                <a:moveTo>
                  <a:pt x="3912" y="0"/>
                </a:moveTo>
                <a:cubicBezTo>
                  <a:pt x="3903" y="0"/>
                  <a:pt x="3895" y="0"/>
                  <a:pt x="3886" y="1"/>
                </a:cubicBezTo>
                <a:cubicBezTo>
                  <a:pt x="1291" y="1"/>
                  <a:pt x="1" y="3146"/>
                  <a:pt x="1842" y="4973"/>
                </a:cubicBezTo>
                <a:cubicBezTo>
                  <a:pt x="2433" y="5568"/>
                  <a:pt x="3162" y="5834"/>
                  <a:pt x="3877" y="5834"/>
                </a:cubicBezTo>
                <a:cubicBezTo>
                  <a:pt x="5374" y="5834"/>
                  <a:pt x="6814" y="4670"/>
                  <a:pt x="6814" y="2914"/>
                </a:cubicBezTo>
                <a:cubicBezTo>
                  <a:pt x="6814" y="1314"/>
                  <a:pt x="5509" y="0"/>
                  <a:pt x="3912" y="0"/>
                </a:cubicBezTo>
                <a:close/>
              </a:path>
            </a:pathLst>
          </a:custGeom>
          <a:solidFill>
            <a:schemeClr val="accen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59" name="Google Shape;159;p1"/>
          <p:cNvSpPr/>
          <p:nvPr/>
        </p:nvSpPr>
        <p:spPr>
          <a:xfrm rot="2700000">
            <a:off x="4757201" y="3877037"/>
            <a:ext cx="193260" cy="193263"/>
          </a:xfrm>
          <a:custGeom>
            <a:rect b="b" l="l" r="r" t="t"/>
            <a:pathLst>
              <a:path extrusionOk="0" h="1770" w="1769">
                <a:moveTo>
                  <a:pt x="681" y="1"/>
                </a:moveTo>
                <a:lnTo>
                  <a:pt x="681" y="668"/>
                </a:lnTo>
                <a:lnTo>
                  <a:pt x="0" y="668"/>
                </a:lnTo>
                <a:lnTo>
                  <a:pt x="0" y="1088"/>
                </a:lnTo>
                <a:lnTo>
                  <a:pt x="681" y="1088"/>
                </a:lnTo>
                <a:lnTo>
                  <a:pt x="681" y="1769"/>
                </a:lnTo>
                <a:lnTo>
                  <a:pt x="1102" y="1769"/>
                </a:lnTo>
                <a:lnTo>
                  <a:pt x="1102" y="1088"/>
                </a:lnTo>
                <a:lnTo>
                  <a:pt x="1769" y="1088"/>
                </a:lnTo>
                <a:lnTo>
                  <a:pt x="1769" y="668"/>
                </a:lnTo>
                <a:lnTo>
                  <a:pt x="1102" y="668"/>
                </a:lnTo>
                <a:lnTo>
                  <a:pt x="1102" y="1"/>
                </a:lnTo>
                <a:close/>
              </a:path>
            </a:pathLst>
          </a:custGeom>
          <a:solidFill>
            <a:schemeClr val="accen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60" name="Google Shape;160;p1"/>
          <p:cNvSpPr/>
          <p:nvPr/>
        </p:nvSpPr>
        <p:spPr>
          <a:xfrm>
            <a:off x="5502442" y="2500104"/>
            <a:ext cx="211345" cy="211345"/>
          </a:xfrm>
          <a:custGeom>
            <a:rect b="b" l="l" r="r" t="t"/>
            <a:pathLst>
              <a:path extrusionOk="0" h="1610" w="1610">
                <a:moveTo>
                  <a:pt x="0" y="0"/>
                </a:moveTo>
                <a:lnTo>
                  <a:pt x="174" y="624"/>
                </a:lnTo>
                <a:lnTo>
                  <a:pt x="334" y="1232"/>
                </a:lnTo>
                <a:lnTo>
                  <a:pt x="667" y="899"/>
                </a:lnTo>
                <a:lnTo>
                  <a:pt x="1377" y="1609"/>
                </a:lnTo>
                <a:lnTo>
                  <a:pt x="1609" y="1377"/>
                </a:lnTo>
                <a:lnTo>
                  <a:pt x="899" y="682"/>
                </a:lnTo>
                <a:lnTo>
                  <a:pt x="1232" y="334"/>
                </a:lnTo>
                <a:lnTo>
                  <a:pt x="623" y="174"/>
                </a:lnTo>
                <a:lnTo>
                  <a:pt x="0" y="0"/>
                </a:lnTo>
                <a:close/>
              </a:path>
            </a:pathLst>
          </a:custGeom>
          <a:solidFill>
            <a:schemeClr val="dk1"/>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FFFFFF"/>
              </a:solidFill>
              <a:latin typeface="Noto Sans Symbols"/>
              <a:ea typeface="Noto Sans Symbols"/>
              <a:cs typeface="Noto Sans Symbols"/>
              <a:sym typeface="Noto Sans Symbols"/>
            </a:endParaRPr>
          </a:p>
        </p:txBody>
      </p:sp>
      <p:sp>
        <p:nvSpPr>
          <p:cNvPr id="161" name="Google Shape;161;p1"/>
          <p:cNvSpPr/>
          <p:nvPr/>
        </p:nvSpPr>
        <p:spPr>
          <a:xfrm>
            <a:off x="5408324" y="2068033"/>
            <a:ext cx="399911" cy="395893"/>
          </a:xfrm>
          <a:custGeom>
            <a:rect b="b" l="l" r="r" t="t"/>
            <a:pathLst>
              <a:path extrusionOk="0" h="5654" w="5712">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accent2"/>
          </a:solidFill>
          <a:ln>
            <a:noFill/>
          </a:ln>
        </p:spPr>
        <p:txBody>
          <a:bodyPr anchorCtr="0" anchor="ctr" bIns="85050" lIns="85050" spcFirstLastPara="1" rIns="85050" wrap="square" tIns="85050">
            <a:noAutofit/>
          </a:bodyPr>
          <a:lstStyle/>
          <a:p>
            <a:pPr indent="0" lvl="0" marL="0" marR="0" rtl="0" algn="l">
              <a:lnSpc>
                <a:spcPct val="100000"/>
              </a:lnSpc>
              <a:spcBef>
                <a:spcPts val="0"/>
              </a:spcBef>
              <a:spcAft>
                <a:spcPts val="0"/>
              </a:spcAft>
              <a:buNone/>
            </a:pPr>
            <a:r>
              <a:t/>
            </a:r>
            <a:endParaRPr b="0" i="0" sz="1675" u="none" cap="none" strike="noStrike">
              <a:solidFill>
                <a:srgbClr val="000000"/>
              </a:solidFill>
              <a:latin typeface="Noto Sans Symbols"/>
              <a:ea typeface="Noto Sans Symbols"/>
              <a:cs typeface="Noto Sans Symbols"/>
              <a:sym typeface="Noto Sans Symbols"/>
            </a:endParaRPr>
          </a:p>
        </p:txBody>
      </p:sp>
      <p:sp>
        <p:nvSpPr>
          <p:cNvPr id="162" name="Google Shape;162;p1"/>
          <p:cNvSpPr txBox="1"/>
          <p:nvPr>
            <p:ph idx="2" type="subTitle"/>
          </p:nvPr>
        </p:nvSpPr>
        <p:spPr>
          <a:xfrm>
            <a:off x="578325" y="3760139"/>
            <a:ext cx="3590700" cy="3822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dk2"/>
              </a:buClr>
              <a:buSzPts val="1300"/>
              <a:buFont typeface="Montserrat"/>
              <a:buNone/>
            </a:pPr>
            <a:r>
              <a:rPr lang="en-US" sz="1300">
                <a:solidFill>
                  <a:schemeClr val="dk2"/>
                </a:solidFill>
                <a:latin typeface="Montserrat"/>
                <a:ea typeface="Montserrat"/>
                <a:cs typeface="Montserrat"/>
                <a:sym typeface="Montserrat"/>
              </a:rPr>
              <a:t>Team: Fourcast</a:t>
            </a:r>
            <a:endParaRPr sz="1300">
              <a:solidFill>
                <a:schemeClr val="dk2"/>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g3e6fb8d29fa_3_2"/>
          <p:cNvPicPr preferRelativeResize="0"/>
          <p:nvPr/>
        </p:nvPicPr>
        <p:blipFill rotWithShape="1">
          <a:blip r:embed="rId3">
            <a:alphaModFix/>
          </a:blip>
          <a:srcRect b="23442" l="0" r="0" t="5262"/>
          <a:stretch/>
        </p:blipFill>
        <p:spPr>
          <a:xfrm>
            <a:off x="757250" y="985650"/>
            <a:ext cx="7726575" cy="3672300"/>
          </a:xfrm>
          <a:prstGeom prst="rect">
            <a:avLst/>
          </a:prstGeom>
          <a:noFill/>
          <a:ln>
            <a:noFill/>
          </a:ln>
        </p:spPr>
      </p:pic>
      <p:sp>
        <p:nvSpPr>
          <p:cNvPr id="168" name="Google Shape;168;g3e6fb8d29fa_3_2"/>
          <p:cNvSpPr txBox="1"/>
          <p:nvPr>
            <p:ph type="title"/>
          </p:nvPr>
        </p:nvSpPr>
        <p:spPr>
          <a:xfrm>
            <a:off x="483738" y="524815"/>
            <a:ext cx="5870400" cy="46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sz="2150">
                <a:solidFill>
                  <a:schemeClr val="dk1"/>
                </a:solidFill>
                <a:latin typeface="Alata"/>
                <a:ea typeface="Alata"/>
                <a:cs typeface="Alata"/>
                <a:sym typeface="Alata"/>
              </a:rPr>
              <a:t>Introduction: The Problem</a:t>
            </a:r>
            <a:endParaRPr sz="2150">
              <a:solidFill>
                <a:schemeClr val="dk1"/>
              </a:solidFill>
              <a:latin typeface="Alata"/>
              <a:ea typeface="Alata"/>
              <a:cs typeface="Alata"/>
              <a:sym typeface="Alat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6fb8d29fa_3_11"/>
          <p:cNvSpPr txBox="1"/>
          <p:nvPr>
            <p:ph type="title"/>
          </p:nvPr>
        </p:nvSpPr>
        <p:spPr>
          <a:xfrm>
            <a:off x="483738" y="524815"/>
            <a:ext cx="5870400" cy="46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sz="2150">
                <a:solidFill>
                  <a:schemeClr val="dk1"/>
                </a:solidFill>
                <a:latin typeface="Alata"/>
                <a:ea typeface="Alata"/>
                <a:cs typeface="Alata"/>
                <a:sym typeface="Alata"/>
              </a:rPr>
              <a:t>Our Focus: Why </a:t>
            </a:r>
            <a:r>
              <a:rPr lang="en-US" sz="2150">
                <a:solidFill>
                  <a:schemeClr val="dk1"/>
                </a:solidFill>
                <a:latin typeface="Alata"/>
                <a:ea typeface="Alata"/>
                <a:cs typeface="Alata"/>
                <a:sym typeface="Alata"/>
              </a:rPr>
              <a:t>Type 2 Diabetes?</a:t>
            </a:r>
            <a:endParaRPr sz="2150">
              <a:solidFill>
                <a:schemeClr val="dk1"/>
              </a:solidFill>
              <a:latin typeface="Alata"/>
              <a:ea typeface="Alata"/>
              <a:cs typeface="Alata"/>
              <a:sym typeface="Alata"/>
            </a:endParaRPr>
          </a:p>
        </p:txBody>
      </p:sp>
      <p:sp>
        <p:nvSpPr>
          <p:cNvPr id="174" name="Google Shape;174;g3e6fb8d29fa_3_11"/>
          <p:cNvSpPr txBox="1"/>
          <p:nvPr>
            <p:ph idx="1" type="body"/>
          </p:nvPr>
        </p:nvSpPr>
        <p:spPr>
          <a:xfrm>
            <a:off x="5448500" y="1717300"/>
            <a:ext cx="3477600" cy="2256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400">
                <a:solidFill>
                  <a:schemeClr val="dk2"/>
                </a:solidFill>
                <a:latin typeface="Montserrat"/>
                <a:ea typeface="Montserrat"/>
                <a:cs typeface="Montserrat"/>
                <a:sym typeface="Montserrat"/>
              </a:rPr>
              <a:t>Most Type 2 Diabetes Journeys have long follow up gaps:</a:t>
            </a:r>
            <a:endParaRPr b="1" sz="14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b="1" sz="14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rPr lang="en-US" sz="1400">
                <a:solidFill>
                  <a:schemeClr val="dk2"/>
                </a:solidFill>
                <a:latin typeface="Montserrat"/>
                <a:ea typeface="Montserrat"/>
                <a:cs typeface="Montserrat"/>
                <a:sym typeface="Montserrat"/>
              </a:rPr>
              <a:t>Ideally, patients should have check-up every 3~6 months. This goes much longer for SVH’s patients.</a:t>
            </a:r>
            <a:endParaRPr sz="1400">
              <a:solidFill>
                <a:schemeClr val="dk2"/>
              </a:solidFill>
              <a:latin typeface="Montserrat"/>
              <a:ea typeface="Montserrat"/>
              <a:cs typeface="Montserrat"/>
              <a:sym typeface="Montserrat"/>
            </a:endParaRPr>
          </a:p>
        </p:txBody>
      </p:sp>
      <p:sp>
        <p:nvSpPr>
          <p:cNvPr id="175" name="Google Shape;175;g3e6fb8d29fa_3_11"/>
          <p:cNvSpPr/>
          <p:nvPr/>
        </p:nvSpPr>
        <p:spPr>
          <a:xfrm>
            <a:off x="5238708" y="1078066"/>
            <a:ext cx="126430" cy="126430"/>
          </a:xfrm>
          <a:custGeom>
            <a:rect b="b" l="l" r="r" t="t"/>
            <a:pathLst>
              <a:path extrusionOk="0" h="349" w="349">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a:noFill/>
          </a:ln>
        </p:spPr>
        <p:txBody>
          <a:bodyPr anchorCtr="0" anchor="ctr" bIns="63200" lIns="106325" spcFirstLastPara="1" rIns="106325" wrap="square" tIns="63200">
            <a:noAutofit/>
          </a:bodyPr>
          <a:lstStyle/>
          <a:p>
            <a:pPr indent="0" lvl="0" marL="0" marR="0" rtl="0" algn="l">
              <a:lnSpc>
                <a:spcPct val="100000"/>
              </a:lnSpc>
              <a:spcBef>
                <a:spcPts val="0"/>
              </a:spcBef>
              <a:spcAft>
                <a:spcPts val="0"/>
              </a:spcAft>
              <a:buNone/>
            </a:pPr>
            <a:r>
              <a:t/>
            </a:r>
            <a:endParaRPr b="0" sz="2093" u="none" strike="noStrike">
              <a:solidFill>
                <a:srgbClr val="000000"/>
              </a:solidFill>
              <a:latin typeface="Noto Sans Symbols"/>
              <a:ea typeface="Noto Sans Symbols"/>
              <a:cs typeface="Noto Sans Symbols"/>
              <a:sym typeface="Noto Sans Symbols"/>
            </a:endParaRPr>
          </a:p>
        </p:txBody>
      </p:sp>
      <p:sp>
        <p:nvSpPr>
          <p:cNvPr id="176" name="Google Shape;176;g3e6fb8d29fa_3_11"/>
          <p:cNvSpPr/>
          <p:nvPr/>
        </p:nvSpPr>
        <p:spPr>
          <a:xfrm>
            <a:off x="5033573" y="1078066"/>
            <a:ext cx="126012" cy="126430"/>
          </a:xfrm>
          <a:custGeom>
            <a:rect b="b" l="l" r="r" t="t"/>
            <a:pathLst>
              <a:path extrusionOk="0" h="349" w="348">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a:noFill/>
          </a:ln>
        </p:spPr>
        <p:txBody>
          <a:bodyPr anchorCtr="0" anchor="ctr" bIns="63200" lIns="106325" spcFirstLastPara="1" rIns="106325" wrap="square" tIns="63200">
            <a:noAutofit/>
          </a:bodyPr>
          <a:lstStyle/>
          <a:p>
            <a:pPr indent="0" lvl="0" marL="0" marR="0" rtl="0" algn="l">
              <a:lnSpc>
                <a:spcPct val="100000"/>
              </a:lnSpc>
              <a:spcBef>
                <a:spcPts val="0"/>
              </a:spcBef>
              <a:spcAft>
                <a:spcPts val="0"/>
              </a:spcAft>
              <a:buNone/>
            </a:pPr>
            <a:r>
              <a:t/>
            </a:r>
            <a:endParaRPr b="0" sz="2093" u="none" strike="noStrike">
              <a:solidFill>
                <a:srgbClr val="000000"/>
              </a:solidFill>
              <a:latin typeface="Noto Sans Symbols"/>
              <a:ea typeface="Noto Sans Symbols"/>
              <a:cs typeface="Noto Sans Symbols"/>
              <a:sym typeface="Noto Sans Symbols"/>
            </a:endParaRPr>
          </a:p>
        </p:txBody>
      </p:sp>
      <p:sp>
        <p:nvSpPr>
          <p:cNvPr id="177" name="Google Shape;177;g3e6fb8d29fa_3_11"/>
          <p:cNvSpPr/>
          <p:nvPr/>
        </p:nvSpPr>
        <p:spPr>
          <a:xfrm>
            <a:off x="4796201" y="1078066"/>
            <a:ext cx="152805" cy="129779"/>
          </a:xfrm>
          <a:custGeom>
            <a:rect b="b" l="l" r="r" t="t"/>
            <a:pathLst>
              <a:path extrusionOk="0" h="359" w="422">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a:noFill/>
          </a:ln>
        </p:spPr>
        <p:txBody>
          <a:bodyPr anchorCtr="0" anchor="ctr" bIns="64900" lIns="106325" spcFirstLastPara="1" rIns="106325" wrap="square" tIns="64900">
            <a:noAutofit/>
          </a:bodyPr>
          <a:lstStyle/>
          <a:p>
            <a:pPr indent="0" lvl="0" marL="0" marR="0" rtl="0" algn="l">
              <a:lnSpc>
                <a:spcPct val="100000"/>
              </a:lnSpc>
              <a:spcBef>
                <a:spcPts val="0"/>
              </a:spcBef>
              <a:spcAft>
                <a:spcPts val="0"/>
              </a:spcAft>
              <a:buNone/>
            </a:pPr>
            <a:r>
              <a:t/>
            </a:r>
            <a:endParaRPr b="0" sz="2093" u="none" strike="noStrike">
              <a:solidFill>
                <a:srgbClr val="000000"/>
              </a:solidFill>
              <a:latin typeface="Noto Sans Symbols"/>
              <a:ea typeface="Noto Sans Symbols"/>
              <a:cs typeface="Noto Sans Symbols"/>
              <a:sym typeface="Noto Sans Symbols"/>
            </a:endParaRPr>
          </a:p>
        </p:txBody>
      </p:sp>
      <p:pic>
        <p:nvPicPr>
          <p:cNvPr id="178" name="Google Shape;178;g3e6fb8d29fa_3_11"/>
          <p:cNvPicPr preferRelativeResize="0"/>
          <p:nvPr/>
        </p:nvPicPr>
        <p:blipFill rotWithShape="1">
          <a:blip r:embed="rId3">
            <a:alphaModFix/>
          </a:blip>
          <a:srcRect b="0" l="0" r="17526" t="10627"/>
          <a:stretch/>
        </p:blipFill>
        <p:spPr>
          <a:xfrm>
            <a:off x="543275" y="1366338"/>
            <a:ext cx="4549827" cy="29585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ph type="title"/>
          </p:nvPr>
        </p:nvSpPr>
        <p:spPr>
          <a:xfrm>
            <a:off x="511840" y="576400"/>
            <a:ext cx="5866800" cy="466200"/>
          </a:xfrm>
          <a:prstGeom prst="rect">
            <a:avLst/>
          </a:prstGeom>
          <a:noFill/>
          <a:ln>
            <a:noFill/>
          </a:ln>
        </p:spPr>
        <p:txBody>
          <a:bodyPr anchorCtr="0" anchor="t" bIns="91425" lIns="91425" spcFirstLastPara="1" rIns="91425" wrap="square" tIns="91425">
            <a:normAutofit fontScale="77500"/>
          </a:bodyPr>
          <a:lstStyle/>
          <a:p>
            <a:pPr indent="0" lvl="0" marL="0" rtl="0" algn="l">
              <a:lnSpc>
                <a:spcPct val="100000"/>
              </a:lnSpc>
              <a:spcBef>
                <a:spcPts val="0"/>
              </a:spcBef>
              <a:spcAft>
                <a:spcPts val="0"/>
              </a:spcAft>
              <a:buClr>
                <a:schemeClr val="dk1"/>
              </a:buClr>
              <a:buSzPct val="100000"/>
              <a:buFont typeface="Alata"/>
              <a:buNone/>
            </a:pPr>
            <a:r>
              <a:rPr lang="en-US" sz="2800">
                <a:solidFill>
                  <a:schemeClr val="dk1"/>
                </a:solidFill>
                <a:latin typeface="Alata"/>
                <a:ea typeface="Alata"/>
                <a:cs typeface="Alata"/>
                <a:sym typeface="Alata"/>
              </a:rPr>
              <a:t>Model: </a:t>
            </a:r>
            <a:r>
              <a:rPr lang="en-US" sz="2800">
                <a:solidFill>
                  <a:schemeClr val="dk1"/>
                </a:solidFill>
                <a:latin typeface="Alata"/>
                <a:ea typeface="Alata"/>
                <a:cs typeface="Alata"/>
                <a:sym typeface="Alata"/>
              </a:rPr>
              <a:t>Who Will Miss Follow-Up?</a:t>
            </a:r>
            <a:endParaRPr b="0" sz="2800" u="none" strike="noStrike">
              <a:solidFill>
                <a:schemeClr val="dk1"/>
              </a:solidFill>
              <a:latin typeface="Arial"/>
              <a:ea typeface="Arial"/>
              <a:cs typeface="Arial"/>
              <a:sym typeface="Arial"/>
            </a:endParaRPr>
          </a:p>
        </p:txBody>
      </p:sp>
      <p:sp>
        <p:nvSpPr>
          <p:cNvPr id="184" name="Google Shape;184;p10"/>
          <p:cNvSpPr txBox="1"/>
          <p:nvPr>
            <p:ph idx="1" type="subTitle"/>
          </p:nvPr>
        </p:nvSpPr>
        <p:spPr>
          <a:xfrm>
            <a:off x="5012875" y="1682875"/>
            <a:ext cx="3805200" cy="22755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lang="en-US">
                <a:solidFill>
                  <a:schemeClr val="dk2"/>
                </a:solidFill>
                <a:latin typeface="Montserrat"/>
                <a:ea typeface="Montserrat"/>
                <a:cs typeface="Montserrat"/>
                <a:sym typeface="Montserrat"/>
              </a:rPr>
              <a:t>A</a:t>
            </a:r>
            <a:r>
              <a:rPr b="1" lang="en-US">
                <a:solidFill>
                  <a:schemeClr val="dk2"/>
                </a:solidFill>
                <a:latin typeface="Montserrat"/>
                <a:ea typeface="Montserrat"/>
                <a:cs typeface="Montserrat"/>
                <a:sym typeface="Montserrat"/>
              </a:rPr>
              <a:t> Random Forest Model used to categorize patients into 3 risk groups:</a:t>
            </a:r>
            <a:endParaRPr b="1">
              <a:solidFill>
                <a:schemeClr val="dk2"/>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b="1">
              <a:solidFill>
                <a:schemeClr val="dk2"/>
              </a:solidFill>
              <a:latin typeface="Montserrat"/>
              <a:ea typeface="Montserrat"/>
              <a:cs typeface="Montserrat"/>
              <a:sym typeface="Montserrat"/>
            </a:endParaRPr>
          </a:p>
          <a:p>
            <a:pPr indent="0" lvl="0" marL="0" marR="0" rtl="0" algn="l">
              <a:lnSpc>
                <a:spcPct val="150000"/>
              </a:lnSpc>
              <a:spcBef>
                <a:spcPts val="0"/>
              </a:spcBef>
              <a:spcAft>
                <a:spcPts val="0"/>
              </a:spcAft>
              <a:buNone/>
            </a:pPr>
            <a:r>
              <a:rPr lang="en-US">
                <a:solidFill>
                  <a:schemeClr val="dk2"/>
                </a:solidFill>
                <a:latin typeface="Montserrat"/>
                <a:ea typeface="Montserrat"/>
                <a:cs typeface="Montserrat"/>
                <a:sym typeface="Montserrat"/>
              </a:rPr>
              <a:t>High-risk patients are ~20% more likely to have long follow-up delay vs. low-risk patients.</a:t>
            </a:r>
            <a:endParaRPr>
              <a:solidFill>
                <a:schemeClr val="dk2"/>
              </a:solidFill>
              <a:latin typeface="Montserrat"/>
              <a:ea typeface="Montserrat"/>
              <a:cs typeface="Montserrat"/>
              <a:sym typeface="Montserrat"/>
            </a:endParaRPr>
          </a:p>
        </p:txBody>
      </p:sp>
      <p:pic>
        <p:nvPicPr>
          <p:cNvPr id="185" name="Google Shape;185;p10"/>
          <p:cNvPicPr preferRelativeResize="0"/>
          <p:nvPr/>
        </p:nvPicPr>
        <p:blipFill>
          <a:blip r:embed="rId3">
            <a:alphaModFix/>
          </a:blip>
          <a:stretch>
            <a:fillRect/>
          </a:stretch>
        </p:blipFill>
        <p:spPr>
          <a:xfrm>
            <a:off x="511850" y="1512100"/>
            <a:ext cx="4291523" cy="2950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571365" y="576400"/>
            <a:ext cx="5866800" cy="466200"/>
          </a:xfrm>
          <a:prstGeom prst="rect">
            <a:avLst/>
          </a:prstGeom>
          <a:noFill/>
          <a:ln>
            <a:noFill/>
          </a:ln>
        </p:spPr>
        <p:txBody>
          <a:bodyPr anchorCtr="0" anchor="t" bIns="91425" lIns="91425" spcFirstLastPara="1" rIns="91425" wrap="square" tIns="91425">
            <a:normAutofit fontScale="77500"/>
          </a:bodyPr>
          <a:lstStyle/>
          <a:p>
            <a:pPr indent="0" lvl="0" marL="0" rtl="0" algn="l">
              <a:lnSpc>
                <a:spcPct val="100000"/>
              </a:lnSpc>
              <a:spcBef>
                <a:spcPts val="0"/>
              </a:spcBef>
              <a:spcAft>
                <a:spcPts val="0"/>
              </a:spcAft>
              <a:buClr>
                <a:schemeClr val="dk1"/>
              </a:buClr>
              <a:buSzPct val="100000"/>
              <a:buFont typeface="Alata"/>
              <a:buNone/>
            </a:pPr>
            <a:r>
              <a:rPr lang="en-US" sz="2800">
                <a:solidFill>
                  <a:schemeClr val="dk1"/>
                </a:solidFill>
                <a:latin typeface="Alata"/>
                <a:ea typeface="Alata"/>
                <a:cs typeface="Alata"/>
                <a:sym typeface="Alata"/>
              </a:rPr>
              <a:t>Predictors</a:t>
            </a:r>
            <a:r>
              <a:rPr lang="en-US" sz="2800">
                <a:solidFill>
                  <a:schemeClr val="dk1"/>
                </a:solidFill>
                <a:latin typeface="Alata"/>
                <a:ea typeface="Alata"/>
                <a:cs typeface="Alata"/>
                <a:sym typeface="Alata"/>
              </a:rPr>
              <a:t>: What Affects Follow-up Delay?</a:t>
            </a:r>
            <a:endParaRPr b="0" sz="2800" u="none" strike="noStrike">
              <a:solidFill>
                <a:schemeClr val="dk1"/>
              </a:solidFill>
              <a:latin typeface="Arial"/>
              <a:ea typeface="Arial"/>
              <a:cs typeface="Arial"/>
              <a:sym typeface="Arial"/>
            </a:endParaRPr>
          </a:p>
        </p:txBody>
      </p:sp>
      <p:sp>
        <p:nvSpPr>
          <p:cNvPr id="191" name="Google Shape;191;p11"/>
          <p:cNvSpPr txBox="1"/>
          <p:nvPr>
            <p:ph idx="1" type="subTitle"/>
          </p:nvPr>
        </p:nvSpPr>
        <p:spPr>
          <a:xfrm>
            <a:off x="5082100" y="1609350"/>
            <a:ext cx="3775200" cy="28290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lang="en-US">
                <a:solidFill>
                  <a:schemeClr val="dk2"/>
                </a:solidFill>
                <a:latin typeface="Montserrat"/>
                <a:ea typeface="Montserrat"/>
                <a:cs typeface="Montserrat"/>
                <a:sym typeface="Montserrat"/>
              </a:rPr>
              <a:t>Top Predictors of Follow-Up Gaps:</a:t>
            </a:r>
            <a:endParaRPr b="1">
              <a:solidFill>
                <a:schemeClr val="dk2"/>
              </a:solidFill>
              <a:latin typeface="Montserrat"/>
              <a:ea typeface="Montserrat"/>
              <a:cs typeface="Montserrat"/>
              <a:sym typeface="Montserrat"/>
            </a:endParaRPr>
          </a:p>
          <a:p>
            <a:pPr indent="0" lvl="0" marL="0" marR="0" rtl="0" algn="l">
              <a:lnSpc>
                <a:spcPct val="150000"/>
              </a:lnSpc>
              <a:spcBef>
                <a:spcPts val="0"/>
              </a:spcBef>
              <a:spcAft>
                <a:spcPts val="0"/>
              </a:spcAft>
              <a:buNone/>
            </a:pPr>
            <a:r>
              <a:t/>
            </a:r>
            <a:endParaRPr b="1">
              <a:solidFill>
                <a:schemeClr val="dk2"/>
              </a:solidFill>
              <a:latin typeface="Montserrat"/>
              <a:ea typeface="Montserrat"/>
              <a:cs typeface="Montserrat"/>
              <a:sym typeface="Montserrat"/>
            </a:endParaRPr>
          </a:p>
          <a:p>
            <a:pPr indent="0" lvl="0" marL="0" marR="0" rtl="0" algn="l">
              <a:lnSpc>
                <a:spcPct val="150000"/>
              </a:lnSpc>
              <a:spcBef>
                <a:spcPts val="0"/>
              </a:spcBef>
              <a:spcAft>
                <a:spcPts val="0"/>
              </a:spcAft>
              <a:buNone/>
            </a:pPr>
            <a:r>
              <a:rPr lang="en-US">
                <a:solidFill>
                  <a:schemeClr val="dk2"/>
                </a:solidFill>
                <a:latin typeface="Montserrat"/>
                <a:ea typeface="Montserrat"/>
                <a:cs typeface="Montserrat"/>
                <a:sym typeface="Montserrat"/>
              </a:rPr>
              <a:t>From these significant predictors, we focuses on </a:t>
            </a:r>
            <a:r>
              <a:rPr b="1" lang="en-US">
                <a:solidFill>
                  <a:schemeClr val="dk2"/>
                </a:solidFill>
                <a:latin typeface="Montserrat"/>
                <a:ea typeface="Montserrat"/>
                <a:cs typeface="Montserrat"/>
                <a:sym typeface="Montserrat"/>
              </a:rPr>
              <a:t>First Encounter Type</a:t>
            </a:r>
            <a:r>
              <a:rPr lang="en-US">
                <a:solidFill>
                  <a:schemeClr val="dk2"/>
                </a:solidFill>
                <a:latin typeface="Montserrat"/>
                <a:ea typeface="Montserrat"/>
                <a:cs typeface="Montserrat"/>
                <a:sym typeface="Montserrat"/>
              </a:rPr>
              <a:t>, </a:t>
            </a:r>
            <a:r>
              <a:rPr b="1" lang="en-US">
                <a:solidFill>
                  <a:schemeClr val="dk2"/>
                </a:solidFill>
                <a:latin typeface="Montserrat"/>
                <a:ea typeface="Montserrat"/>
                <a:cs typeface="Montserrat"/>
                <a:sym typeface="Montserrat"/>
              </a:rPr>
              <a:t>MyChart Status</a:t>
            </a:r>
            <a:r>
              <a:rPr lang="en-US">
                <a:solidFill>
                  <a:schemeClr val="dk2"/>
                </a:solidFill>
                <a:latin typeface="Montserrat"/>
                <a:ea typeface="Montserrat"/>
                <a:cs typeface="Montserrat"/>
                <a:sym typeface="Montserrat"/>
              </a:rPr>
              <a:t>, and </a:t>
            </a:r>
            <a:r>
              <a:rPr b="1" lang="en-US">
                <a:solidFill>
                  <a:schemeClr val="dk2"/>
                </a:solidFill>
                <a:latin typeface="Montserrat"/>
                <a:ea typeface="Montserrat"/>
                <a:cs typeface="Montserrat"/>
                <a:sym typeface="Montserrat"/>
              </a:rPr>
              <a:t>Any Social Risk</a:t>
            </a:r>
            <a:r>
              <a:rPr lang="en-US">
                <a:solidFill>
                  <a:schemeClr val="dk2"/>
                </a:solidFill>
                <a:latin typeface="Montserrat"/>
                <a:ea typeface="Montserrat"/>
                <a:cs typeface="Montserrat"/>
                <a:sym typeface="Montserrat"/>
              </a:rPr>
              <a:t> as the key actionable drivers for improving patient follow-up gaps.</a:t>
            </a:r>
            <a:endParaRPr>
              <a:solidFill>
                <a:schemeClr val="dk2"/>
              </a:solidFill>
              <a:latin typeface="Montserrat"/>
              <a:ea typeface="Montserrat"/>
              <a:cs typeface="Montserrat"/>
              <a:sym typeface="Montserrat"/>
            </a:endParaRPr>
          </a:p>
        </p:txBody>
      </p:sp>
      <p:pic>
        <p:nvPicPr>
          <p:cNvPr id="192" name="Google Shape;192;p11"/>
          <p:cNvPicPr preferRelativeResize="0"/>
          <p:nvPr/>
        </p:nvPicPr>
        <p:blipFill>
          <a:blip r:embed="rId3">
            <a:alphaModFix/>
          </a:blip>
          <a:stretch>
            <a:fillRect/>
          </a:stretch>
        </p:blipFill>
        <p:spPr>
          <a:xfrm>
            <a:off x="304800" y="1366700"/>
            <a:ext cx="4600550" cy="298990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e6fb8d29fa_2_18"/>
          <p:cNvSpPr txBox="1"/>
          <p:nvPr>
            <p:ph type="title"/>
          </p:nvPr>
        </p:nvSpPr>
        <p:spPr>
          <a:xfrm>
            <a:off x="488025" y="554850"/>
            <a:ext cx="3422100" cy="564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sz="2150">
                <a:solidFill>
                  <a:schemeClr val="dk1"/>
                </a:solidFill>
                <a:latin typeface="Alata"/>
                <a:ea typeface="Alata"/>
                <a:cs typeface="Alata"/>
                <a:sym typeface="Alata"/>
              </a:rPr>
              <a:t>First Encounter Type</a:t>
            </a:r>
            <a:endParaRPr sz="2150">
              <a:solidFill>
                <a:schemeClr val="dk1"/>
              </a:solidFill>
              <a:latin typeface="Alata"/>
              <a:ea typeface="Alata"/>
              <a:cs typeface="Alata"/>
              <a:sym typeface="Alata"/>
            </a:endParaRPr>
          </a:p>
        </p:txBody>
      </p:sp>
      <p:sp>
        <p:nvSpPr>
          <p:cNvPr id="198" name="Google Shape;198;g3e6fb8d29fa_2_18"/>
          <p:cNvSpPr txBox="1"/>
          <p:nvPr>
            <p:ph idx="1" type="body"/>
          </p:nvPr>
        </p:nvSpPr>
        <p:spPr>
          <a:xfrm>
            <a:off x="5066725" y="1838450"/>
            <a:ext cx="3486000" cy="1999200"/>
          </a:xfrm>
          <a:prstGeom prst="rect">
            <a:avLst/>
          </a:prstGeom>
        </p:spPr>
        <p:txBody>
          <a:bodyPr anchorCtr="0" anchor="t" bIns="45000" lIns="90000" spcFirstLastPara="1" rIns="90000" wrap="square" tIns="45000">
            <a:noAutofit/>
          </a:bodyPr>
          <a:lstStyle/>
          <a:p>
            <a:pPr indent="0" lvl="0" marL="0" rtl="0" algn="l">
              <a:lnSpc>
                <a:spcPct val="150000"/>
              </a:lnSpc>
              <a:spcBef>
                <a:spcPts val="0"/>
              </a:spcBef>
              <a:spcAft>
                <a:spcPts val="0"/>
              </a:spcAft>
              <a:buNone/>
            </a:pPr>
            <a:r>
              <a:rPr b="1" lang="en-US" sz="1400">
                <a:solidFill>
                  <a:schemeClr val="dk2"/>
                </a:solidFill>
                <a:latin typeface="Montserrat"/>
                <a:ea typeface="Montserrat"/>
                <a:cs typeface="Montserrat"/>
                <a:sym typeface="Montserrat"/>
              </a:rPr>
              <a:t>Lab and Office Visits Lead to the Highest Follow-Up Gaps (&gt;78%) :</a:t>
            </a:r>
            <a:endParaRPr b="1" sz="14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b="1" sz="14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rPr lang="en-US" sz="1400">
                <a:solidFill>
                  <a:schemeClr val="dk2"/>
                </a:solidFill>
                <a:latin typeface="Montserrat"/>
                <a:ea typeface="Montserrat"/>
                <a:cs typeface="Montserrat"/>
                <a:sym typeface="Montserrat"/>
              </a:rPr>
              <a:t>Among all types, lab and office visits carry the greatest risk of patients not returning for timely follow-up.</a:t>
            </a:r>
            <a:endParaRPr sz="1400">
              <a:solidFill>
                <a:schemeClr val="dk2"/>
              </a:solidFill>
              <a:latin typeface="Montserrat"/>
              <a:ea typeface="Montserrat"/>
              <a:cs typeface="Montserrat"/>
              <a:sym typeface="Montserrat"/>
            </a:endParaRPr>
          </a:p>
        </p:txBody>
      </p:sp>
      <p:pic>
        <p:nvPicPr>
          <p:cNvPr id="199" name="Google Shape;199;g3e6fb8d29fa_2_18"/>
          <p:cNvPicPr preferRelativeResize="0"/>
          <p:nvPr/>
        </p:nvPicPr>
        <p:blipFill>
          <a:blip r:embed="rId3">
            <a:alphaModFix/>
          </a:blip>
          <a:stretch>
            <a:fillRect/>
          </a:stretch>
        </p:blipFill>
        <p:spPr>
          <a:xfrm>
            <a:off x="488013" y="1373825"/>
            <a:ext cx="4250537" cy="30696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e6fb8d29fa_0_0"/>
          <p:cNvSpPr txBox="1"/>
          <p:nvPr>
            <p:ph type="title"/>
          </p:nvPr>
        </p:nvSpPr>
        <p:spPr>
          <a:xfrm>
            <a:off x="570675" y="614575"/>
            <a:ext cx="3422100" cy="58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sz="2150">
                <a:solidFill>
                  <a:schemeClr val="dk1"/>
                </a:solidFill>
                <a:latin typeface="Alata"/>
                <a:ea typeface="Alata"/>
                <a:cs typeface="Alata"/>
                <a:sym typeface="Alata"/>
              </a:rPr>
              <a:t>MyChart Status</a:t>
            </a:r>
            <a:endParaRPr sz="2150">
              <a:solidFill>
                <a:schemeClr val="dk1"/>
              </a:solidFill>
              <a:latin typeface="Alata"/>
              <a:ea typeface="Alata"/>
              <a:cs typeface="Alata"/>
              <a:sym typeface="Alata"/>
            </a:endParaRPr>
          </a:p>
        </p:txBody>
      </p:sp>
      <p:sp>
        <p:nvSpPr>
          <p:cNvPr id="205" name="Google Shape;205;g3e6fb8d29fa_0_0"/>
          <p:cNvSpPr txBox="1"/>
          <p:nvPr>
            <p:ph idx="1" type="body"/>
          </p:nvPr>
        </p:nvSpPr>
        <p:spPr>
          <a:xfrm>
            <a:off x="4840225" y="1535425"/>
            <a:ext cx="3701400" cy="2876400"/>
          </a:xfrm>
          <a:prstGeom prst="rect">
            <a:avLst/>
          </a:prstGeom>
        </p:spPr>
        <p:txBody>
          <a:bodyPr anchorCtr="0" anchor="t" bIns="45000" lIns="90000" spcFirstLastPara="1" rIns="90000" wrap="square" tIns="45000">
            <a:normAutofit/>
          </a:bodyPr>
          <a:lstStyle/>
          <a:p>
            <a:pPr indent="0" lvl="0" marL="457200" rtl="0" algn="l">
              <a:lnSpc>
                <a:spcPct val="150000"/>
              </a:lnSpc>
              <a:spcBef>
                <a:spcPts val="0"/>
              </a:spcBef>
              <a:spcAft>
                <a:spcPts val="0"/>
              </a:spcAft>
              <a:buNone/>
            </a:pPr>
            <a:r>
              <a:rPr b="1" lang="en-US" sz="1400">
                <a:solidFill>
                  <a:schemeClr val="dk2"/>
                </a:solidFill>
                <a:latin typeface="Montserrat"/>
                <a:ea typeface="Montserrat"/>
                <a:cs typeface="Montserrat"/>
                <a:sym typeface="Montserrat"/>
              </a:rPr>
              <a:t>7.2% Performance Margin: </a:t>
            </a:r>
            <a:endParaRPr b="1" sz="1400">
              <a:solidFill>
                <a:schemeClr val="dk2"/>
              </a:solidFill>
              <a:latin typeface="Montserrat"/>
              <a:ea typeface="Montserrat"/>
              <a:cs typeface="Montserrat"/>
              <a:sym typeface="Montserrat"/>
            </a:endParaRPr>
          </a:p>
          <a:p>
            <a:pPr indent="0" lvl="0" marL="457200" rtl="0" algn="l">
              <a:lnSpc>
                <a:spcPct val="150000"/>
              </a:lnSpc>
              <a:spcBef>
                <a:spcPts val="0"/>
              </a:spcBef>
              <a:spcAft>
                <a:spcPts val="0"/>
              </a:spcAft>
              <a:buNone/>
            </a:pPr>
            <a:r>
              <a:t/>
            </a:r>
            <a:endParaRPr sz="1400">
              <a:solidFill>
                <a:schemeClr val="dk2"/>
              </a:solidFill>
              <a:latin typeface="Montserrat"/>
              <a:ea typeface="Montserrat"/>
              <a:cs typeface="Montserrat"/>
              <a:sym typeface="Montserrat"/>
            </a:endParaRPr>
          </a:p>
          <a:p>
            <a:pPr indent="0" lvl="0" marL="457200" rtl="0" algn="l">
              <a:lnSpc>
                <a:spcPct val="150000"/>
              </a:lnSpc>
              <a:spcBef>
                <a:spcPts val="0"/>
              </a:spcBef>
              <a:spcAft>
                <a:spcPts val="0"/>
              </a:spcAft>
              <a:buNone/>
            </a:pPr>
            <a:r>
              <a:rPr lang="en-US" sz="1400">
                <a:solidFill>
                  <a:schemeClr val="dk2"/>
                </a:solidFill>
                <a:latin typeface="Montserrat"/>
                <a:ea typeface="Montserrat"/>
                <a:cs typeface="Montserrat"/>
                <a:sym typeface="Montserrat"/>
              </a:rPr>
              <a:t>Patients who use MyChart have a 7.2% lower rate of long follow-up gaps compared.</a:t>
            </a:r>
            <a:endParaRPr sz="1400">
              <a:solidFill>
                <a:schemeClr val="dk2"/>
              </a:solidFill>
              <a:latin typeface="Montserrat"/>
              <a:ea typeface="Montserrat"/>
              <a:cs typeface="Montserrat"/>
              <a:sym typeface="Montserrat"/>
            </a:endParaRPr>
          </a:p>
        </p:txBody>
      </p:sp>
      <p:pic>
        <p:nvPicPr>
          <p:cNvPr id="206" name="Google Shape;206;g3e6fb8d29fa_0_0"/>
          <p:cNvPicPr preferRelativeResize="0"/>
          <p:nvPr/>
        </p:nvPicPr>
        <p:blipFill>
          <a:blip r:embed="rId3">
            <a:alphaModFix/>
          </a:blip>
          <a:stretch>
            <a:fillRect/>
          </a:stretch>
        </p:blipFill>
        <p:spPr>
          <a:xfrm>
            <a:off x="479600" y="1535425"/>
            <a:ext cx="4183849" cy="287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e6fb8d29fa_0_6"/>
          <p:cNvSpPr txBox="1"/>
          <p:nvPr>
            <p:ph type="title"/>
          </p:nvPr>
        </p:nvSpPr>
        <p:spPr>
          <a:xfrm>
            <a:off x="714250" y="685800"/>
            <a:ext cx="3422100" cy="57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sz="2150">
                <a:solidFill>
                  <a:schemeClr val="dk1"/>
                </a:solidFill>
                <a:latin typeface="Alata"/>
                <a:ea typeface="Alata"/>
                <a:cs typeface="Alata"/>
                <a:sym typeface="Alata"/>
              </a:rPr>
              <a:t>Social risk</a:t>
            </a:r>
            <a:endParaRPr sz="2150">
              <a:solidFill>
                <a:schemeClr val="dk1"/>
              </a:solidFill>
              <a:latin typeface="Alata"/>
              <a:ea typeface="Alata"/>
              <a:cs typeface="Alata"/>
              <a:sym typeface="Alata"/>
            </a:endParaRPr>
          </a:p>
        </p:txBody>
      </p:sp>
      <p:sp>
        <p:nvSpPr>
          <p:cNvPr id="212" name="Google Shape;212;g3e6fb8d29fa_0_6"/>
          <p:cNvSpPr txBox="1"/>
          <p:nvPr>
            <p:ph idx="1" type="body"/>
          </p:nvPr>
        </p:nvSpPr>
        <p:spPr>
          <a:xfrm>
            <a:off x="5243499" y="1637850"/>
            <a:ext cx="3515700" cy="2862000"/>
          </a:xfrm>
          <a:prstGeom prst="rect">
            <a:avLst/>
          </a:prstGeom>
        </p:spPr>
        <p:txBody>
          <a:bodyPr anchorCtr="0" anchor="t" bIns="45000" lIns="90000" spcFirstLastPara="1" rIns="90000" wrap="square" tIns="45000">
            <a:normAutofit/>
          </a:bodyPr>
          <a:lstStyle/>
          <a:p>
            <a:pPr indent="0" lvl="0" marL="0" rtl="0" algn="l">
              <a:lnSpc>
                <a:spcPct val="150000"/>
              </a:lnSpc>
              <a:spcBef>
                <a:spcPts val="0"/>
              </a:spcBef>
              <a:spcAft>
                <a:spcPts val="0"/>
              </a:spcAft>
              <a:buNone/>
            </a:pPr>
            <a:r>
              <a:rPr b="1" lang="en-US" sz="1400">
                <a:solidFill>
                  <a:schemeClr val="dk2"/>
                </a:solidFill>
                <a:latin typeface="Montserrat"/>
                <a:ea typeface="Montserrat"/>
                <a:cs typeface="Montserrat"/>
                <a:sym typeface="Montserrat"/>
              </a:rPr>
              <a:t>6.1% Higher Follow-Up Gaps with Social Risk Factors, </a:t>
            </a:r>
            <a:r>
              <a:rPr b="1" lang="en-US" sz="1400">
                <a:solidFill>
                  <a:schemeClr val="dk2"/>
                </a:solidFill>
                <a:latin typeface="Montserrat"/>
                <a:ea typeface="Montserrat"/>
                <a:cs typeface="Montserrat"/>
                <a:sym typeface="Montserrat"/>
              </a:rPr>
              <a:t>which</a:t>
            </a:r>
            <a:r>
              <a:rPr b="1" lang="en-US" sz="1400">
                <a:solidFill>
                  <a:schemeClr val="dk2"/>
                </a:solidFill>
                <a:latin typeface="Montserrat"/>
                <a:ea typeface="Montserrat"/>
                <a:cs typeface="Montserrat"/>
                <a:sym typeface="Montserrat"/>
              </a:rPr>
              <a:t> include: </a:t>
            </a:r>
            <a:endParaRPr b="1" sz="1400">
              <a:solidFill>
                <a:schemeClr val="dk2"/>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b="1" sz="1400">
              <a:solidFill>
                <a:schemeClr val="dk2"/>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dk2"/>
              </a:buClr>
              <a:buSzPts val="1400"/>
              <a:buFont typeface="Montserrat"/>
              <a:buChar char="-"/>
            </a:pPr>
            <a:r>
              <a:rPr lang="en-US" sz="1400">
                <a:solidFill>
                  <a:schemeClr val="dk2"/>
                </a:solidFill>
                <a:latin typeface="Montserrat"/>
                <a:ea typeface="Montserrat"/>
                <a:cs typeface="Montserrat"/>
                <a:sym typeface="Montserrat"/>
              </a:rPr>
              <a:t>Transportation</a:t>
            </a:r>
            <a:endParaRPr sz="1400">
              <a:solidFill>
                <a:schemeClr val="dk2"/>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dk2"/>
              </a:buClr>
              <a:buSzPts val="1400"/>
              <a:buFont typeface="Montserrat"/>
              <a:buChar char="-"/>
            </a:pPr>
            <a:r>
              <a:rPr lang="en-US" sz="1400">
                <a:solidFill>
                  <a:schemeClr val="dk2"/>
                </a:solidFill>
                <a:latin typeface="Montserrat"/>
                <a:ea typeface="Montserrat"/>
                <a:cs typeface="Montserrat"/>
                <a:sym typeface="Montserrat"/>
              </a:rPr>
              <a:t>Food/Housing Insecurity</a:t>
            </a:r>
            <a:endParaRPr sz="1400">
              <a:solidFill>
                <a:schemeClr val="dk2"/>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dk2"/>
              </a:buClr>
              <a:buSzPts val="1400"/>
              <a:buFont typeface="Montserrat"/>
              <a:buChar char="-"/>
            </a:pPr>
            <a:r>
              <a:rPr lang="en-US" sz="1400">
                <a:solidFill>
                  <a:schemeClr val="dk2"/>
                </a:solidFill>
                <a:latin typeface="Montserrat"/>
                <a:ea typeface="Montserrat"/>
                <a:cs typeface="Montserrat"/>
                <a:sym typeface="Montserrat"/>
              </a:rPr>
              <a:t>Financial Strain</a:t>
            </a:r>
            <a:endParaRPr sz="1400">
              <a:solidFill>
                <a:schemeClr val="dk2"/>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dk2"/>
              </a:buClr>
              <a:buSzPts val="1400"/>
              <a:buFont typeface="Montserrat"/>
              <a:buChar char="-"/>
            </a:pPr>
            <a:r>
              <a:rPr lang="en-US" sz="1400">
                <a:solidFill>
                  <a:schemeClr val="dk2"/>
                </a:solidFill>
                <a:latin typeface="Montserrat"/>
                <a:ea typeface="Montserrat"/>
                <a:cs typeface="Montserrat"/>
                <a:sym typeface="Montserrat"/>
              </a:rPr>
              <a:t>Stress &amp; Depression</a:t>
            </a:r>
            <a:endParaRPr sz="1400">
              <a:solidFill>
                <a:schemeClr val="dk2"/>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dk2"/>
              </a:buClr>
              <a:buSzPts val="1400"/>
              <a:buFont typeface="Montserrat"/>
              <a:buChar char="-"/>
            </a:pPr>
            <a:r>
              <a:rPr lang="en-US" sz="1400">
                <a:solidFill>
                  <a:schemeClr val="dk2"/>
                </a:solidFill>
                <a:latin typeface="Montserrat"/>
                <a:ea typeface="Montserrat"/>
                <a:cs typeface="Montserrat"/>
                <a:sym typeface="Montserrat"/>
              </a:rPr>
              <a:t>Social Isolation</a:t>
            </a:r>
            <a:endParaRPr sz="1400">
              <a:solidFill>
                <a:schemeClr val="dk2"/>
              </a:solidFill>
              <a:latin typeface="Montserrat"/>
              <a:ea typeface="Montserrat"/>
              <a:cs typeface="Montserrat"/>
              <a:sym typeface="Montserrat"/>
            </a:endParaRPr>
          </a:p>
        </p:txBody>
      </p:sp>
      <p:pic>
        <p:nvPicPr>
          <p:cNvPr id="213" name="Google Shape;213;g3e6fb8d29fa_0_6" title="plot_22_social_risk_line_white_clean.png"/>
          <p:cNvPicPr preferRelativeResize="0"/>
          <p:nvPr/>
        </p:nvPicPr>
        <p:blipFill>
          <a:blip r:embed="rId3">
            <a:alphaModFix/>
          </a:blip>
          <a:stretch>
            <a:fillRect/>
          </a:stretch>
        </p:blipFill>
        <p:spPr>
          <a:xfrm>
            <a:off x="304800" y="1495275"/>
            <a:ext cx="4938711" cy="29637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e6fb8d29fa_2_26"/>
          <p:cNvSpPr txBox="1"/>
          <p:nvPr>
            <p:ph type="title"/>
          </p:nvPr>
        </p:nvSpPr>
        <p:spPr>
          <a:xfrm>
            <a:off x="469678" y="453025"/>
            <a:ext cx="2562000" cy="539100"/>
          </a:xfrm>
          <a:prstGeom prst="rect">
            <a:avLst/>
          </a:prstGeom>
        </p:spPr>
        <p:txBody>
          <a:bodyPr anchorCtr="0" anchor="b" bIns="91425" lIns="91425" spcFirstLastPara="1" rIns="91425" wrap="square" tIns="91425">
            <a:noAutofit/>
          </a:bodyPr>
          <a:lstStyle/>
          <a:p>
            <a:pPr indent="0" lvl="0" marL="0" rtl="0" algn="l">
              <a:lnSpc>
                <a:spcPct val="150000"/>
              </a:lnSpc>
              <a:spcBef>
                <a:spcPts val="0"/>
              </a:spcBef>
              <a:spcAft>
                <a:spcPts val="0"/>
              </a:spcAft>
              <a:buNone/>
            </a:pPr>
            <a:r>
              <a:rPr lang="en-US" sz="2150">
                <a:solidFill>
                  <a:schemeClr val="dk1"/>
                </a:solidFill>
                <a:latin typeface="Alata"/>
                <a:ea typeface="Alata"/>
                <a:cs typeface="Alata"/>
                <a:sym typeface="Alata"/>
              </a:rPr>
              <a:t>Suggestions</a:t>
            </a:r>
            <a:endParaRPr sz="2150">
              <a:solidFill>
                <a:schemeClr val="dk1"/>
              </a:solidFill>
              <a:latin typeface="Alata"/>
              <a:ea typeface="Alata"/>
              <a:cs typeface="Alata"/>
              <a:sym typeface="Alata"/>
            </a:endParaRPr>
          </a:p>
        </p:txBody>
      </p:sp>
      <p:pic>
        <p:nvPicPr>
          <p:cNvPr id="219" name="Google Shape;219;g3e6fb8d29fa_2_26"/>
          <p:cNvPicPr preferRelativeResize="0"/>
          <p:nvPr/>
        </p:nvPicPr>
        <p:blipFill>
          <a:blip r:embed="rId3">
            <a:alphaModFix/>
          </a:blip>
          <a:stretch>
            <a:fillRect/>
          </a:stretch>
        </p:blipFill>
        <p:spPr>
          <a:xfrm>
            <a:off x="963775" y="1108550"/>
            <a:ext cx="7046321" cy="3846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e6fe210b36_0_0"/>
          <p:cNvSpPr txBox="1"/>
          <p:nvPr>
            <p:ph type="title"/>
          </p:nvPr>
        </p:nvSpPr>
        <p:spPr>
          <a:xfrm>
            <a:off x="3291003" y="453025"/>
            <a:ext cx="2562000" cy="5391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None/>
            </a:pPr>
            <a:r>
              <a:rPr lang="en-US" sz="2150">
                <a:solidFill>
                  <a:schemeClr val="dk1"/>
                </a:solidFill>
                <a:latin typeface="Alata"/>
                <a:ea typeface="Alata"/>
                <a:cs typeface="Alata"/>
                <a:sym typeface="Alata"/>
              </a:rPr>
              <a:t>Sources</a:t>
            </a:r>
            <a:endParaRPr sz="2150">
              <a:solidFill>
                <a:schemeClr val="dk1"/>
              </a:solidFill>
              <a:latin typeface="Alata"/>
              <a:ea typeface="Alata"/>
              <a:cs typeface="Alata"/>
              <a:sym typeface="Alata"/>
            </a:endParaRPr>
          </a:p>
        </p:txBody>
      </p:sp>
      <p:sp>
        <p:nvSpPr>
          <p:cNvPr id="225" name="Google Shape;225;g3e6fe210b36_0_0"/>
          <p:cNvSpPr txBox="1"/>
          <p:nvPr>
            <p:ph idx="1" type="body"/>
          </p:nvPr>
        </p:nvSpPr>
        <p:spPr>
          <a:xfrm>
            <a:off x="721203" y="1281425"/>
            <a:ext cx="7701600" cy="2862000"/>
          </a:xfrm>
          <a:prstGeom prst="rect">
            <a:avLst/>
          </a:prstGeom>
        </p:spPr>
        <p:txBody>
          <a:bodyPr anchorCtr="0" anchor="t" bIns="45000" lIns="90000" spcFirstLastPara="1" rIns="90000" wrap="square" tIns="45000">
            <a:normAutofit/>
          </a:bodyPr>
          <a:lstStyle/>
          <a:p>
            <a:pPr indent="-285750" lvl="0" marL="457200" rtl="0" algn="l">
              <a:lnSpc>
                <a:spcPct val="150000"/>
              </a:lnSpc>
              <a:spcBef>
                <a:spcPts val="0"/>
              </a:spcBef>
              <a:spcAft>
                <a:spcPts val="0"/>
              </a:spcAft>
              <a:buSzPts val="900"/>
              <a:buFont typeface="Montserrat"/>
              <a:buChar char="●"/>
            </a:pPr>
            <a:r>
              <a:rPr lang="en-US" sz="900">
                <a:solidFill>
                  <a:srgbClr val="1B1B1B"/>
                </a:solidFill>
                <a:highlight>
                  <a:srgbClr val="FFFFFF"/>
                </a:highlight>
                <a:latin typeface="Montserrat"/>
                <a:ea typeface="Montserrat"/>
                <a:cs typeface="Montserrat"/>
                <a:sym typeface="Montserrat"/>
              </a:rPr>
              <a:t>Sun, C. A., Taylor, K., Levin, S., Renda, S. M., &amp; Han, H. R. (2021). Factors associated with missed appointments by adults with type 2 diabetes mellitus: a systematic review. </a:t>
            </a:r>
            <a:r>
              <a:rPr i="1" lang="en-US" sz="900">
                <a:solidFill>
                  <a:srgbClr val="1B1B1B"/>
                </a:solidFill>
                <a:highlight>
                  <a:srgbClr val="FFFFFF"/>
                </a:highlight>
                <a:latin typeface="Montserrat"/>
                <a:ea typeface="Montserrat"/>
                <a:cs typeface="Montserrat"/>
                <a:sym typeface="Montserrat"/>
              </a:rPr>
              <a:t>BMJ open diabetes research &amp; care</a:t>
            </a:r>
            <a:r>
              <a:rPr lang="en-US" sz="900">
                <a:solidFill>
                  <a:srgbClr val="1B1B1B"/>
                </a:solidFill>
                <a:highlight>
                  <a:srgbClr val="FFFFFF"/>
                </a:highlight>
                <a:latin typeface="Montserrat"/>
                <a:ea typeface="Montserrat"/>
                <a:cs typeface="Montserrat"/>
                <a:sym typeface="Montserrat"/>
              </a:rPr>
              <a:t>, </a:t>
            </a:r>
            <a:r>
              <a:rPr i="1" lang="en-US" sz="900">
                <a:solidFill>
                  <a:srgbClr val="1B1B1B"/>
                </a:solidFill>
                <a:highlight>
                  <a:srgbClr val="FFFFFF"/>
                </a:highlight>
                <a:latin typeface="Montserrat"/>
                <a:ea typeface="Montserrat"/>
                <a:cs typeface="Montserrat"/>
                <a:sym typeface="Montserrat"/>
              </a:rPr>
              <a:t>9</a:t>
            </a:r>
            <a:r>
              <a:rPr lang="en-US" sz="900">
                <a:solidFill>
                  <a:srgbClr val="1B1B1B"/>
                </a:solidFill>
                <a:highlight>
                  <a:srgbClr val="FFFFFF"/>
                </a:highlight>
                <a:latin typeface="Montserrat"/>
                <a:ea typeface="Montserrat"/>
                <a:cs typeface="Montserrat"/>
                <a:sym typeface="Montserrat"/>
              </a:rPr>
              <a:t>(1), e001819. https://doi.org/10.1136/bmjdrc-2020-001819</a:t>
            </a:r>
            <a:r>
              <a:rPr lang="en-US" sz="900">
                <a:latin typeface="Montserrat"/>
                <a:ea typeface="Montserrat"/>
                <a:cs typeface="Montserrat"/>
                <a:sym typeface="Montserrat"/>
              </a:rPr>
              <a:t> </a:t>
            </a:r>
            <a:endParaRPr sz="900">
              <a:latin typeface="Montserrat"/>
              <a:ea typeface="Montserrat"/>
              <a:cs typeface="Montserrat"/>
              <a:sym typeface="Montserrat"/>
            </a:endParaRPr>
          </a:p>
          <a:p>
            <a:pPr indent="0" lvl="0" marL="457200" rtl="0" algn="l">
              <a:lnSpc>
                <a:spcPct val="150000"/>
              </a:lnSpc>
              <a:spcBef>
                <a:spcPts val="0"/>
              </a:spcBef>
              <a:spcAft>
                <a:spcPts val="0"/>
              </a:spcAft>
              <a:buNone/>
            </a:pPr>
            <a:r>
              <a:t/>
            </a:r>
            <a:endParaRPr sz="900">
              <a:latin typeface="Montserrat"/>
              <a:ea typeface="Montserrat"/>
              <a:cs typeface="Montserrat"/>
              <a:sym typeface="Montserrat"/>
            </a:endParaRPr>
          </a:p>
          <a:p>
            <a:pPr indent="-285750" lvl="0" marL="457200" rtl="0" algn="l">
              <a:lnSpc>
                <a:spcPct val="150000"/>
              </a:lnSpc>
              <a:spcBef>
                <a:spcPts val="0"/>
              </a:spcBef>
              <a:spcAft>
                <a:spcPts val="0"/>
              </a:spcAft>
              <a:buSzPts val="900"/>
              <a:buFont typeface="Montserrat"/>
              <a:buChar char="●"/>
            </a:pPr>
            <a:r>
              <a:rPr lang="en-US" sz="900">
                <a:latin typeface="Montserrat"/>
                <a:ea typeface="Montserrat"/>
                <a:cs typeface="Montserrat"/>
                <a:sym typeface="Montserrat"/>
              </a:rPr>
              <a:t>Mayo Clinic. (n.d.). </a:t>
            </a:r>
            <a:r>
              <a:rPr i="1" lang="en-US" sz="900">
                <a:latin typeface="Montserrat"/>
                <a:ea typeface="Montserrat"/>
                <a:cs typeface="Montserrat"/>
                <a:sym typeface="Montserrat"/>
              </a:rPr>
              <a:t>Diabetic coma: Symptoms and causes</a:t>
            </a:r>
            <a:r>
              <a:rPr lang="en-US" sz="900">
                <a:latin typeface="Montserrat"/>
                <a:ea typeface="Montserrat"/>
                <a:cs typeface="Montserrat"/>
                <a:sym typeface="Montserrat"/>
              </a:rPr>
              <a:t>.</a:t>
            </a:r>
            <a:endParaRPr sz="900">
              <a:latin typeface="Montserrat"/>
              <a:ea typeface="Montserrat"/>
              <a:cs typeface="Montserrat"/>
              <a:sym typeface="Montserrat"/>
            </a:endParaRPr>
          </a:p>
          <a:p>
            <a:pPr indent="0" lvl="0" marL="457200" rtl="0" algn="l">
              <a:lnSpc>
                <a:spcPct val="150000"/>
              </a:lnSpc>
              <a:spcBef>
                <a:spcPts val="0"/>
              </a:spcBef>
              <a:spcAft>
                <a:spcPts val="0"/>
              </a:spcAft>
              <a:buNone/>
            </a:pPr>
            <a:r>
              <a:rPr lang="en-US" sz="900" u="sng">
                <a:solidFill>
                  <a:schemeClr val="hlink"/>
                </a:solidFill>
                <a:latin typeface="Montserrat"/>
                <a:ea typeface="Montserrat"/>
                <a:cs typeface="Montserrat"/>
                <a:sym typeface="Montserrat"/>
                <a:hlinkClick r:id="rId3"/>
              </a:rPr>
              <a:t>https://www.mayoclinic.org/diseases-conditions/diabetic-coma/symptoms-causes/syc-20371475</a:t>
            </a:r>
            <a:r>
              <a:rPr lang="en-US" sz="900">
                <a:latin typeface="Montserrat"/>
                <a:ea typeface="Montserrat"/>
                <a:cs typeface="Montserrat"/>
                <a:sym typeface="Montserrat"/>
              </a:rPr>
              <a:t> </a:t>
            </a:r>
            <a:endParaRPr sz="900">
              <a:latin typeface="Montserrat"/>
              <a:ea typeface="Montserrat"/>
              <a:cs typeface="Montserrat"/>
              <a:sym typeface="Montserrat"/>
            </a:endParaRPr>
          </a:p>
          <a:p>
            <a:pPr indent="0" lvl="0" marL="457200" rtl="0" algn="l">
              <a:lnSpc>
                <a:spcPct val="150000"/>
              </a:lnSpc>
              <a:spcBef>
                <a:spcPts val="0"/>
              </a:spcBef>
              <a:spcAft>
                <a:spcPts val="0"/>
              </a:spcAft>
              <a:buNone/>
            </a:pPr>
            <a:r>
              <a:t/>
            </a:r>
            <a:endParaRPr sz="900">
              <a:latin typeface="Montserrat"/>
              <a:ea typeface="Montserrat"/>
              <a:cs typeface="Montserrat"/>
              <a:sym typeface="Montserrat"/>
            </a:endParaRPr>
          </a:p>
          <a:p>
            <a:pPr indent="-285750" lvl="0" marL="457200" rtl="0" algn="l">
              <a:lnSpc>
                <a:spcPct val="150000"/>
              </a:lnSpc>
              <a:spcBef>
                <a:spcPts val="0"/>
              </a:spcBef>
              <a:spcAft>
                <a:spcPts val="0"/>
              </a:spcAft>
              <a:buSzPts val="900"/>
              <a:buFont typeface="Montserrat"/>
              <a:buChar char="●"/>
            </a:pPr>
            <a:r>
              <a:rPr lang="en-US" sz="900">
                <a:latin typeface="Montserrat"/>
                <a:ea typeface="Montserrat"/>
                <a:cs typeface="Montserrat"/>
                <a:sym typeface="Montserrat"/>
              </a:rPr>
              <a:t>Centers for Disease Control and Prevention. (2025). </a:t>
            </a:r>
            <a:r>
              <a:rPr i="1" lang="en-US" sz="900">
                <a:latin typeface="Montserrat"/>
                <a:ea typeface="Montserrat"/>
                <a:cs typeface="Montserrat"/>
                <a:sym typeface="Montserrat"/>
              </a:rPr>
              <a:t>Prevalence of diabetes has been increasing</a:t>
            </a:r>
            <a:r>
              <a:rPr lang="en-US" sz="900">
                <a:latin typeface="Montserrat"/>
                <a:ea typeface="Montserrat"/>
                <a:cs typeface="Montserrat"/>
                <a:sym typeface="Montserrat"/>
              </a:rPr>
              <a:t> (Preventing Chronic Disease, Article 24_0199).</a:t>
            </a:r>
            <a:endParaRPr sz="900">
              <a:latin typeface="Montserrat"/>
              <a:ea typeface="Montserrat"/>
              <a:cs typeface="Montserrat"/>
              <a:sym typeface="Montserrat"/>
            </a:endParaRPr>
          </a:p>
          <a:p>
            <a:pPr indent="0" lvl="0" marL="457200" rtl="0" algn="l">
              <a:lnSpc>
                <a:spcPct val="150000"/>
              </a:lnSpc>
              <a:spcBef>
                <a:spcPts val="0"/>
              </a:spcBef>
              <a:spcAft>
                <a:spcPts val="0"/>
              </a:spcAft>
              <a:buNone/>
            </a:pPr>
            <a:r>
              <a:rPr lang="en-US" sz="900" u="sng">
                <a:solidFill>
                  <a:schemeClr val="hlink"/>
                </a:solidFill>
                <a:latin typeface="Montserrat"/>
                <a:ea typeface="Montserrat"/>
                <a:cs typeface="Montserrat"/>
                <a:sym typeface="Montserrat"/>
                <a:hlinkClick r:id="rId4"/>
              </a:rPr>
              <a:t>https://www.cdc.gov/pcd/issues/2025/24_0199.htm</a:t>
            </a:r>
            <a:r>
              <a:rPr lang="en-US" sz="900">
                <a:latin typeface="Montserrat"/>
                <a:ea typeface="Montserrat"/>
                <a:cs typeface="Montserrat"/>
                <a:sym typeface="Montserrat"/>
              </a:rPr>
              <a:t> </a:t>
            </a:r>
            <a:endParaRPr sz="900">
              <a:latin typeface="Montserrat"/>
              <a:ea typeface="Montserrat"/>
              <a:cs typeface="Montserrat"/>
              <a:sym typeface="Montserrat"/>
            </a:endParaRPr>
          </a:p>
          <a:p>
            <a:pPr indent="0" lvl="0" marL="457200" rtl="0" algn="l">
              <a:lnSpc>
                <a:spcPct val="150000"/>
              </a:lnSpc>
              <a:spcBef>
                <a:spcPts val="0"/>
              </a:spcBef>
              <a:spcAft>
                <a:spcPts val="0"/>
              </a:spcAft>
              <a:buNone/>
            </a:pPr>
            <a:r>
              <a:t/>
            </a:r>
            <a:endParaRPr sz="900">
              <a:latin typeface="Montserrat"/>
              <a:ea typeface="Montserrat"/>
              <a:cs typeface="Montserrat"/>
              <a:sym typeface="Montserrat"/>
            </a:endParaRPr>
          </a:p>
          <a:p>
            <a:pPr indent="-285750" lvl="0" marL="457200" rtl="0" algn="l">
              <a:lnSpc>
                <a:spcPct val="150000"/>
              </a:lnSpc>
              <a:spcBef>
                <a:spcPts val="0"/>
              </a:spcBef>
              <a:spcAft>
                <a:spcPts val="0"/>
              </a:spcAft>
              <a:buSzPts val="900"/>
              <a:buFont typeface="Montserrat"/>
              <a:buChar char="●"/>
            </a:pPr>
            <a:r>
              <a:rPr lang="en-US" sz="900">
                <a:latin typeface="Montserrat"/>
                <a:ea typeface="Montserrat"/>
                <a:cs typeface="Montserrat"/>
                <a:sym typeface="Montserrat"/>
              </a:rPr>
              <a:t>Cleveland Clinic. (2023, February 17). </a:t>
            </a:r>
            <a:r>
              <a:rPr i="1" lang="en-US" sz="900">
                <a:latin typeface="Montserrat"/>
                <a:ea typeface="Montserrat"/>
                <a:cs typeface="Montserrat"/>
                <a:sym typeface="Montserrat"/>
              </a:rPr>
              <a:t>Diabetes</a:t>
            </a:r>
            <a:r>
              <a:rPr lang="en-US" sz="900">
                <a:latin typeface="Montserrat"/>
                <a:ea typeface="Montserrat"/>
                <a:cs typeface="Montserrat"/>
                <a:sym typeface="Montserrat"/>
              </a:rPr>
              <a:t>.</a:t>
            </a:r>
            <a:endParaRPr sz="900">
              <a:latin typeface="Montserrat"/>
              <a:ea typeface="Montserrat"/>
              <a:cs typeface="Montserrat"/>
              <a:sym typeface="Montserrat"/>
            </a:endParaRPr>
          </a:p>
          <a:p>
            <a:pPr indent="0" lvl="0" marL="457200" rtl="0" algn="l">
              <a:lnSpc>
                <a:spcPct val="150000"/>
              </a:lnSpc>
              <a:spcBef>
                <a:spcPts val="0"/>
              </a:spcBef>
              <a:spcAft>
                <a:spcPts val="0"/>
              </a:spcAft>
              <a:buNone/>
            </a:pPr>
            <a:r>
              <a:rPr lang="en-US" sz="900" u="sng">
                <a:solidFill>
                  <a:schemeClr val="hlink"/>
                </a:solidFill>
                <a:latin typeface="Montserrat"/>
                <a:ea typeface="Montserrat"/>
                <a:cs typeface="Montserrat"/>
                <a:sym typeface="Montserrat"/>
                <a:hlinkClick r:id="rId5"/>
              </a:rPr>
              <a:t>https://my.clevelandclinic.org/health/diseases/7104-diabetes</a:t>
            </a:r>
            <a:r>
              <a:rPr lang="en-US" sz="900">
                <a:latin typeface="Montserrat"/>
                <a:ea typeface="Montserrat"/>
                <a:cs typeface="Montserrat"/>
                <a:sym typeface="Montserrat"/>
              </a:rPr>
              <a:t> </a:t>
            </a:r>
            <a:endParaRPr sz="900">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
  <a:themeElements>
    <a:clrScheme name="Simple Light">
      <a:dk1>
        <a:srgbClr val="2F4A8A"/>
      </a:dk1>
      <a:lt1>
        <a:srgbClr val="FFFFFF"/>
      </a:lt1>
      <a:dk2>
        <a:srgbClr val="666666"/>
      </a:dk2>
      <a:lt2>
        <a:srgbClr val="4869B1"/>
      </a:lt2>
      <a:accent1>
        <a:srgbClr val="7EACEC"/>
      </a:accent1>
      <a:accent2>
        <a:srgbClr val="C3D9FB"/>
      </a:accent2>
      <a:accent3>
        <a:srgbClr val="90D1CB"/>
      </a:accent3>
      <a:accent4>
        <a:srgbClr val="AFDCDD"/>
      </a:accent4>
      <a:accent5>
        <a:srgbClr val="F8DBC4"/>
      </a:accent5>
      <a:accent6>
        <a:srgbClr val="FFB172"/>
      </a:accent6>
      <a:hlink>
        <a:srgbClr val="2F4A8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2026-05-02T19:21:56Z</dcterms:created>
  <dc:creator>Unknown Creator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12.0</vt:r8>
  </property>
</Properties>
</file>